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7863840" y="-2377440"/>
            <a:ext cx="6583680" cy="6583680"/>
          </a:xfrm>
          <a:prstGeom prst="ellipse">
            <a:avLst/>
          </a:prstGeom>
          <a:solidFill>
            <a:srgbClr val="10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2743200"/>
            <a:ext cx="4937760" cy="4937760"/>
          </a:xfrm>
          <a:prstGeom prst="ellipse">
            <a:avLst/>
          </a:prstGeom>
          <a:solidFill>
            <a:srgbClr val="0D33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1234440"/>
            <a:ext cx="2651760" cy="265176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Pretendard"/>
              </a:rPr>
              <a:t>BPM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6928"/>
            <a:ext cx="348935" cy="32918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55" b="1">
                <a:solidFill>
                  <a:srgbClr val="0060AE"/>
                </a:solidFill>
                <a:latin typeface="Pretendard"/>
              </a:rPr>
              <a:t>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556" y="599846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76" b="1">
                <a:solidFill>
                  <a:srgbClr val="FFFFFF"/>
                </a:solidFill>
                <a:latin typeface="Pretendard"/>
              </a:rPr>
              <a:t>수협은행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6596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00A0D2"/>
                </a:solidFill>
                <a:latin typeface="Pretendard"/>
              </a:rPr>
              <a:t>업무 프로세스 관리(BPM)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32304"/>
            <a:ext cx="84124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Pretendard"/>
              </a:rPr>
              <a:t>기록하는 시스템에서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Pretendard"/>
              </a:rPr>
              <a:t>실행하는 시스템으로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4315968"/>
            <a:ext cx="1828800" cy="0"/>
          </a:xfrm>
          <a:prstGeom prst="line">
            <a:avLst/>
          </a:prstGeom>
          <a:ln w="44450">
            <a:solidFill>
              <a:srgbClr val="00A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4553712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50" b="0">
                <a:solidFill>
                  <a:srgbClr val="C3DAEC"/>
                </a:solidFill>
                <a:latin typeface="Pretendard"/>
              </a:rPr>
              <a:t>여신·수출환어음·신용카드·계좌개설·예금잔액통보 —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50" b="0">
                <a:solidFill>
                  <a:srgbClr val="C3DAEC"/>
                </a:solidFill>
                <a:latin typeface="Pretendard"/>
              </a:rPr>
              <a:t>수협 실제 업무 도면 7종으로 확인하는 BPM 적용 효과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5760720"/>
            <a:ext cx="10874959" cy="0"/>
          </a:xfrm>
          <a:prstGeom prst="line">
            <a:avLst/>
          </a:prstGeom>
          <a:ln w="12700">
            <a:solidFill>
              <a:srgbClr val="1D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592531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9FC0DC"/>
                </a:solidFill>
                <a:latin typeface="Pretendard"/>
              </a:rPr>
              <a:t>uEngine BPM  |  유엔진솔루션즈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5727" y="59253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9FC0DC"/>
                </a:solidFill>
                <a:latin typeface="Pretendard"/>
              </a:rPr>
              <a:t>설명회 자료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708477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60AE"/>
                </a:solidFill>
                <a:latin typeface="Pretendard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오늘 말씀드릴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BPM 을 처음 접하시는 분도 30분이면 «무엇이·왜·어떻게 달라지는가» 를 아실 수 있도록 구성했습니다.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92808"/>
            <a:ext cx="10874959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892808"/>
            <a:ext cx="54864" cy="100584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9264" y="2139696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093976"/>
            <a:ext cx="5852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A2A53"/>
                </a:solidFill>
                <a:latin typeface="Pretendard"/>
              </a:rPr>
              <a:t>지금 우리 시스템의 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2459736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5A6B7D"/>
                </a:solidFill>
                <a:latin typeface="Pretendard"/>
              </a:rPr>
              <a:t>계정계(SoR)만 있을 때 생기는 5가지 문제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18527" y="2258568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060AE"/>
                </a:solidFill>
                <a:latin typeface="Pretendard"/>
              </a:rPr>
              <a:t>왜 «시스템은 다 있는데 일은 안 풀리는가»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008376"/>
            <a:ext cx="10874959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58368" y="3008376"/>
            <a:ext cx="54864" cy="10058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9264" y="3255264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3209544"/>
            <a:ext cx="5852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A2A53"/>
                </a:solidFill>
                <a:latin typeface="Pretendard"/>
              </a:rPr>
              <a:t>BPM 을 넣으면 무엇이 달라지나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3575304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5A6B7D"/>
                </a:solidFill>
                <a:latin typeface="Pretendard"/>
              </a:rPr>
              <a:t>UI/UX · 준수율 · 변경속도 · 자동화 · 컴플라이언스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8527" y="337413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0B3A4"/>
                </a:solidFill>
                <a:latin typeface="Pretendard"/>
              </a:rPr>
              <a:t>찾아가는 업무에서 찾아오는 업무로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123944"/>
            <a:ext cx="10874959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58368" y="4123944"/>
            <a:ext cx="54864" cy="1005840"/>
          </a:xfrm>
          <a:prstGeom prst="rect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9264" y="4370831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4325112"/>
            <a:ext cx="5852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A2A53"/>
                </a:solidFill>
                <a:latin typeface="Pretendard"/>
              </a:rPr>
              <a:t>수협 실제 업무로 보는 데모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4690872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5A6B7D"/>
                </a:solidFill>
                <a:latin typeface="Pretendard"/>
              </a:rPr>
              <a:t>여신신규 외 7개 도면에서 도출한 8개 시연 시나리오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8527" y="4489704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0A0D2"/>
                </a:solidFill>
                <a:latin typeface="Pretendard"/>
              </a:rPr>
              <a:t>우리 도면 그대로, 실행되는 프로세스로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239512"/>
            <a:ext cx="10874959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58368" y="5239512"/>
            <a:ext cx="54864" cy="1005840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9264" y="5486400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4208" y="5440679"/>
            <a:ext cx="5852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A2A53"/>
                </a:solidFill>
                <a:latin typeface="Pretendard"/>
              </a:rPr>
              <a:t>종합 · 기대효과 · 도입 로드맵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4208" y="580644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5A6B7D"/>
                </a:solidFill>
                <a:latin typeface="Pretendard"/>
              </a:rPr>
              <a:t>무엇을 측정하고 어떻게 단계적으로 넓힐 것인가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8527" y="5605272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3단계 확산 계획과 성과 지표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899855" y="-1737360"/>
            <a:ext cx="4937760" cy="4937760"/>
          </a:xfrm>
          <a:prstGeom prst="ellipse">
            <a:avLst/>
          </a:prstGeom>
          <a:solidFill>
            <a:srgbClr val="103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80015" y="3108960"/>
            <a:ext cx="3840480" cy="3840480"/>
          </a:xfrm>
          <a:prstGeom prst="ellipse">
            <a:avLst/>
          </a:prstGeom>
          <a:solidFill>
            <a:srgbClr val="0D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57200"/>
            <a:ext cx="310164" cy="29260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72" b="1">
                <a:solidFill>
                  <a:srgbClr val="0060AE"/>
                </a:solidFill>
                <a:latin typeface="Pretendard"/>
              </a:rPr>
              <a:t>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201" y="48646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12" b="1">
                <a:solidFill>
                  <a:srgbClr val="FFFFFF"/>
                </a:solidFill>
                <a:latin typeface="Pretendard"/>
              </a:rPr>
              <a:t>수협은행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0A0D2"/>
                </a:solidFill>
                <a:latin typeface="Pretendard"/>
              </a:rPr>
              <a:t>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86000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</a:rPr>
              <a:t>지금 시스템의 한계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3310128"/>
            <a:ext cx="1463040" cy="0"/>
          </a:xfrm>
          <a:prstGeom prst="line">
            <a:avLst/>
          </a:prstGeom>
          <a:ln w="38100">
            <a:solidFill>
              <a:srgbClr val="00A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3493008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B9D3E9"/>
                </a:solidFill>
                <a:latin typeface="Pretendard"/>
              </a:rPr>
              <a:t>계정계·정보계는 «무엇이 일어났는가» 를 완벽히 기록합니다.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B9D3E9"/>
                </a:solidFill>
                <a:latin typeface="Pretendard"/>
              </a:rPr>
              <a:t>그러나 «무엇을 해야 하는가» 는 어디에도 기록되어 있지 않습니다.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238244"/>
            <a:ext cx="82296" cy="82296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4223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5E6F4"/>
                </a:solidFill>
                <a:latin typeface="Pretendard"/>
              </a:rPr>
              <a:t>시스템 오브 레코드(SoR)가 하는 일과 하지 못하는 일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" y="4604004"/>
            <a:ext cx="82296" cy="82296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0799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5E6F4"/>
                </a:solidFill>
                <a:latin typeface="Pretendard"/>
              </a:rPr>
              <a:t>사용자가 업무를 찾아다녀야 하는 구조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" y="4969764"/>
            <a:ext cx="82296" cy="82296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7375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5E6F4"/>
                </a:solidFill>
                <a:latin typeface="Pretendard"/>
              </a:rPr>
              <a:t>문서와 사람 머릿속에만 있는 업무 프로세스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" y="5335524"/>
            <a:ext cx="82296" cy="82296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3951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5E6F4"/>
                </a:solidFill>
                <a:latin typeface="Pretendard"/>
              </a:rPr>
              <a:t>정책이 바뀌면 개발이 따라가야 하는 구조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" y="5701284"/>
            <a:ext cx="82296" cy="82296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0527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5E6F4"/>
                </a:solidFill>
                <a:latin typeface="Pretendard"/>
              </a:rPr>
              <a:t>수협 실제 도면 7종을 분석한 결과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C81A6"/>
                </a:solidFill>
                <a:latin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708477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60AE"/>
                </a:solidFill>
                <a:latin typeface="Pretendard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시스템은 다 갖춰져 있는데, 왜 일은 안 풀릴까?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은행 IT의 중심은 «기록의 시스템(System of Record)» 입니다. 기록은 완벽하지만, 기록만으로는 일이 흐르지 않습니다.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37944"/>
            <a:ext cx="5274355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837944"/>
            <a:ext cx="5274355" cy="54864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05740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A2A53"/>
                </a:solidFill>
                <a:latin typeface="Pretendard"/>
              </a:rPr>
              <a:t>SoR — 기록의 시스템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4231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0060AE"/>
                </a:solidFill>
                <a:latin typeface="Pretendard"/>
              </a:rPr>
              <a:t>계정계 · 여신원장 · 외환 · 카드 · 정보계</a:t>
            </a:r>
          </a:p>
        </p:txBody>
      </p:sp>
      <p:sp>
        <p:nvSpPr>
          <p:cNvPr id="14" name="Oval 13"/>
          <p:cNvSpPr/>
          <p:nvPr/>
        </p:nvSpPr>
        <p:spPr>
          <a:xfrm>
            <a:off x="969264" y="2894076"/>
            <a:ext cx="68580" cy="6858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" y="2798064"/>
            <a:ext cx="448055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5A6B7D"/>
                </a:solidFill>
                <a:latin typeface="Pretendard"/>
              </a:rPr>
              <a:t>잘 하는 것</a:t>
            </a:r>
          </a:p>
        </p:txBody>
      </p:sp>
      <p:sp>
        <p:nvSpPr>
          <p:cNvPr id="16" name="Oval 15"/>
          <p:cNvSpPr/>
          <p:nvPr/>
        </p:nvSpPr>
        <p:spPr>
          <a:xfrm>
            <a:off x="969264" y="3168396"/>
            <a:ext cx="68580" cy="6858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2144" y="3072384"/>
            <a:ext cx="448055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5A6B7D"/>
                </a:solidFill>
                <a:latin typeface="Pretendard"/>
              </a:rPr>
              <a:t>· 계좌·거래·잔액을 정확히 기록</a:t>
            </a:r>
          </a:p>
        </p:txBody>
      </p:sp>
      <p:sp>
        <p:nvSpPr>
          <p:cNvPr id="18" name="Oval 17"/>
          <p:cNvSpPr/>
          <p:nvPr/>
        </p:nvSpPr>
        <p:spPr>
          <a:xfrm>
            <a:off x="969264" y="3442715"/>
            <a:ext cx="68580" cy="6858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144" y="3346703"/>
            <a:ext cx="448055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5A6B7D"/>
                </a:solidFill>
                <a:latin typeface="Pretendard"/>
              </a:rPr>
              <a:t>· 단건 조회·수정·마감 처리</a:t>
            </a:r>
          </a:p>
        </p:txBody>
      </p:sp>
      <p:sp>
        <p:nvSpPr>
          <p:cNvPr id="20" name="Oval 19"/>
          <p:cNvSpPr/>
          <p:nvPr/>
        </p:nvSpPr>
        <p:spPr>
          <a:xfrm>
            <a:off x="969264" y="3717035"/>
            <a:ext cx="68580" cy="6858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2144" y="3621023"/>
            <a:ext cx="448055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5A6B7D"/>
                </a:solidFill>
                <a:latin typeface="Pretendard"/>
              </a:rPr>
              <a:t>· 정합성·감사증적 보존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395935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A6B7D"/>
                </a:solidFill>
                <a:latin typeface="Pretendard"/>
              </a:rPr>
              <a:t>그러나 «지금 이 건이 어느 단계에 있고,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A6B7D"/>
                </a:solidFill>
                <a:latin typeface="Pretendard"/>
              </a:rPr>
              <a:t>다음에 누가 무엇을 해야 하는가» 는 담기지 않습니다.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8971" y="1837944"/>
            <a:ext cx="5274355" cy="2788920"/>
          </a:xfrm>
          <a:prstGeom prst="roundRect">
            <a:avLst>
              <a:gd name="adj" fmla="val 5000"/>
            </a:avLst>
          </a:prstGeom>
          <a:solidFill>
            <a:srgbClr val="FFF6EE"/>
          </a:solidFill>
          <a:ln w="13970">
            <a:solidFill>
              <a:srgbClr val="F6D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258971" y="1837944"/>
            <a:ext cx="5274355" cy="54864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9867" y="205740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A2A53"/>
                </a:solidFill>
                <a:latin typeface="Pretendard"/>
              </a:rPr>
              <a:t>빠져 있는 것 — 프로세스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9867" y="24231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F37B21"/>
                </a:solidFill>
                <a:latin typeface="Pretendard"/>
              </a:rPr>
              <a:t>일의 순서 · 담당 · 기한 · 규칙 · 예외</a:t>
            </a:r>
          </a:p>
        </p:txBody>
      </p:sp>
      <p:sp>
        <p:nvSpPr>
          <p:cNvPr id="27" name="Oval 26"/>
          <p:cNvSpPr/>
          <p:nvPr/>
        </p:nvSpPr>
        <p:spPr>
          <a:xfrm>
            <a:off x="6569867" y="2894076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52747" y="2798064"/>
            <a:ext cx="448055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5A6B7D"/>
                </a:solidFill>
                <a:latin typeface="Pretendard"/>
              </a:rPr>
              <a:t>어디에 있나?</a:t>
            </a:r>
          </a:p>
        </p:txBody>
      </p:sp>
      <p:sp>
        <p:nvSpPr>
          <p:cNvPr id="29" name="Oval 28"/>
          <p:cNvSpPr/>
          <p:nvPr/>
        </p:nvSpPr>
        <p:spPr>
          <a:xfrm>
            <a:off x="6569867" y="3168396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52747" y="3072384"/>
            <a:ext cx="448055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5A6B7D"/>
                </a:solidFill>
                <a:latin typeface="Pretendard"/>
              </a:rPr>
              <a:t>· 업무 매뉴얼 PDF / 사내 규정집</a:t>
            </a:r>
          </a:p>
        </p:txBody>
      </p:sp>
      <p:sp>
        <p:nvSpPr>
          <p:cNvPr id="31" name="Oval 30"/>
          <p:cNvSpPr/>
          <p:nvPr/>
        </p:nvSpPr>
        <p:spPr>
          <a:xfrm>
            <a:off x="6569867" y="3442715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52747" y="3346703"/>
            <a:ext cx="448055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5A6B7D"/>
                </a:solidFill>
                <a:latin typeface="Pretendard"/>
              </a:rPr>
              <a:t>· 엑셀 체크리스트, 메신저 · 전화</a:t>
            </a:r>
          </a:p>
        </p:txBody>
      </p:sp>
      <p:sp>
        <p:nvSpPr>
          <p:cNvPr id="33" name="Oval 32"/>
          <p:cNvSpPr/>
          <p:nvPr/>
        </p:nvSpPr>
        <p:spPr>
          <a:xfrm>
            <a:off x="6569867" y="3717035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52747" y="3621023"/>
            <a:ext cx="448055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5A6B7D"/>
                </a:solidFill>
                <a:latin typeface="Pretendard"/>
              </a:rPr>
              <a:t>· 숙련 직원의 «머릿속»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9867" y="395935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A6B7D"/>
                </a:solidFill>
                <a:latin typeface="Pretendard"/>
              </a:rPr>
              <a:t>실행되지 않는 프로세스는 지켜지는지 알 수 없고,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A6B7D"/>
                </a:solidFill>
                <a:latin typeface="Pretendard"/>
              </a:rPr>
              <a:t>바꿔도 반영되었는지 확인할 수 없습니다.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873752"/>
            <a:ext cx="10874959" cy="713232"/>
          </a:xfrm>
          <a:prstGeom prst="roundRect">
            <a:avLst>
              <a:gd name="adj" fmla="val 5000"/>
            </a:avLst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24128" y="5020056"/>
            <a:ext cx="1014343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Pretendard"/>
              </a:rPr>
              <a:t>“시스템은 무슨 일이 있었는지 알려주지만, 무슨 일을 해야 하는지는 알려주지 않는다.”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708477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37B21"/>
                </a:solidFill>
                <a:latin typeface="Pretendard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SoR 만 있을 때 나타나는 5가지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수협 실제 업무 도면(여신신규 · 수출환어음 · 신용카드 · 계좌개설 · 예금잔액통보)에서 그대로 확인되는 문제들입니다.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74520"/>
            <a:ext cx="1999427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874520"/>
            <a:ext cx="1999427" cy="68580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112264"/>
            <a:ext cx="15970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F0C5A3"/>
                </a:solidFill>
                <a:latin typeface="Pretendar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587752"/>
            <a:ext cx="15970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1">
                <a:solidFill>
                  <a:srgbClr val="0A2A53"/>
                </a:solidFill>
                <a:latin typeface="Pretendard"/>
              </a:rPr>
              <a:t>찾아가는 업무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044952"/>
            <a:ext cx="159709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>
                <a:solidFill>
                  <a:srgbClr val="5A6B7D"/>
                </a:solidFill>
                <a:latin typeface="Pretendard"/>
              </a:rPr>
              <a:t>사용자가 무엇을 할지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>
                <a:solidFill>
                  <a:srgbClr val="5A6B7D"/>
                </a:solidFill>
                <a:latin typeface="Pretendard"/>
              </a:rPr>
              <a:t>직접 찾아 다녀야 한다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9536" y="4142232"/>
            <a:ext cx="1597091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59536" y="4288536"/>
            <a:ext cx="15970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8B9AA8"/>
                </a:solidFill>
                <a:latin typeface="Pretendard"/>
              </a:rPr>
              <a:t>우리 도면에서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526280"/>
            <a:ext cx="159709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50" b="0">
                <a:solidFill>
                  <a:srgbClr val="F37B21"/>
                </a:solidFill>
                <a:latin typeface="Pretendard"/>
              </a:rPr>
              <a:t>여신 1건에 외부 사이트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50" b="0">
                <a:solidFill>
                  <a:srgbClr val="F37B21"/>
                </a:solidFill>
                <a:latin typeface="Pretendard"/>
              </a:rPr>
              <a:t>조회만 5회 이상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77251" y="1874520"/>
            <a:ext cx="1999427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2877251" y="1874520"/>
            <a:ext cx="1999427" cy="68580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78419" y="2112264"/>
            <a:ext cx="15970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F0C5A3"/>
                </a:solidFill>
                <a:latin typeface="Pretendar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8419" y="2587752"/>
            <a:ext cx="15970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1">
                <a:solidFill>
                  <a:srgbClr val="0A2A53"/>
                </a:solidFill>
                <a:latin typeface="Pretendard"/>
              </a:rPr>
              <a:t>지켜지는지 모름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8419" y="3044952"/>
            <a:ext cx="159709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>
                <a:solidFill>
                  <a:srgbClr val="5A6B7D"/>
                </a:solidFill>
                <a:latin typeface="Pretendard"/>
              </a:rPr>
              <a:t>프로세스가 문서에만 있어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>
                <a:solidFill>
                  <a:srgbClr val="5A6B7D"/>
                </a:solidFill>
                <a:latin typeface="Pretendard"/>
              </a:rPr>
              <a:t>준수 여부를 측정할 수 없다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78419" y="4142232"/>
            <a:ext cx="1597091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78419" y="4288536"/>
            <a:ext cx="15970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8B9AA8"/>
                </a:solidFill>
                <a:latin typeface="Pretendard"/>
              </a:rPr>
              <a:t>우리 도면에서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78419" y="4526280"/>
            <a:ext cx="159709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50" b="0">
                <a:solidFill>
                  <a:srgbClr val="F37B21"/>
                </a:solidFill>
                <a:latin typeface="Pretendard"/>
              </a:rPr>
              <a:t>게이트웨이에 조건식이 없고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50" b="0">
                <a:solidFill>
                  <a:srgbClr val="F37B21"/>
                </a:solidFill>
                <a:latin typeface="Pretendard"/>
              </a:rPr>
              <a:t>Y/N 이름만 존재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96134" y="1874520"/>
            <a:ext cx="1999427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096134" y="1874520"/>
            <a:ext cx="1999427" cy="68580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97302" y="2112264"/>
            <a:ext cx="15970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F0C5A3"/>
                </a:solidFill>
                <a:latin typeface="Pretendard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7302" y="2587752"/>
            <a:ext cx="15970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1">
                <a:solidFill>
                  <a:srgbClr val="0A2A53"/>
                </a:solidFill>
                <a:latin typeface="Pretendard"/>
              </a:rPr>
              <a:t>느린 변경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97302" y="3044952"/>
            <a:ext cx="159709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>
                <a:solidFill>
                  <a:srgbClr val="5A6B7D"/>
                </a:solidFill>
                <a:latin typeface="Pretendard"/>
              </a:rPr>
              <a:t>정책이 바뀌면 개발·배포가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>
                <a:solidFill>
                  <a:srgbClr val="5A6B7D"/>
                </a:solidFill>
                <a:latin typeface="Pretendard"/>
              </a:rPr>
              <a:t>끝나야 현장에 반영된다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297302" y="4142232"/>
            <a:ext cx="1597091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97302" y="4288536"/>
            <a:ext cx="15970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8B9AA8"/>
                </a:solidFill>
                <a:latin typeface="Pretendard"/>
              </a:rPr>
              <a:t>우리 도면에서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97302" y="4526280"/>
            <a:ext cx="159709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50" b="0">
                <a:solidFill>
                  <a:srgbClr val="F37B21"/>
                </a:solidFill>
                <a:latin typeface="Pretendard"/>
              </a:rPr>
              <a:t>우대금리 0.1% 조정에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50" b="0">
                <a:solidFill>
                  <a:srgbClr val="F37B21"/>
                </a:solidFill>
                <a:latin typeface="Pretendard"/>
              </a:rPr>
              <a:t>프로세스 재배포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017" y="1874520"/>
            <a:ext cx="1999427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315017" y="1874520"/>
            <a:ext cx="1999427" cy="68580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185" y="2112264"/>
            <a:ext cx="15970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F0C5A3"/>
                </a:solidFill>
                <a:latin typeface="Pretendard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6185" y="2587752"/>
            <a:ext cx="15970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1">
                <a:solidFill>
                  <a:srgbClr val="0A2A53"/>
                </a:solidFill>
                <a:latin typeface="Pretendard"/>
              </a:rPr>
              <a:t>자동화 공백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6185" y="3044952"/>
            <a:ext cx="159709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>
                <a:solidFill>
                  <a:srgbClr val="5A6B7D"/>
                </a:solidFill>
                <a:latin typeface="Pretendard"/>
              </a:rPr>
              <a:t>틈새 업무는 여전히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>
                <a:solidFill>
                  <a:srgbClr val="5A6B7D"/>
                </a:solidFill>
                <a:latin typeface="Pretendard"/>
              </a:rPr>
              <a:t>사람이 화면을 열어 처리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516185" y="4142232"/>
            <a:ext cx="1597091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516185" y="4288536"/>
            <a:ext cx="15970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8B9AA8"/>
                </a:solidFill>
                <a:latin typeface="Pretendard"/>
              </a:rPr>
              <a:t>우리 도면에서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16185" y="4526280"/>
            <a:ext cx="159709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50" b="0">
                <a:solidFill>
                  <a:srgbClr val="F37B21"/>
                </a:solidFill>
                <a:latin typeface="Pretendard"/>
              </a:rPr>
              <a:t>시세·등기·진위확인이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50" b="0">
                <a:solidFill>
                  <a:srgbClr val="F37B21"/>
                </a:solidFill>
                <a:latin typeface="Pretendard"/>
              </a:rPr>
              <a:t>전부 수작업 UserTask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33900" y="1874520"/>
            <a:ext cx="1999427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9533900" y="1874520"/>
            <a:ext cx="1999427" cy="68580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35068" y="2112264"/>
            <a:ext cx="15970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F0C5A3"/>
                </a:solidFill>
                <a:latin typeface="Pretendard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5068" y="2587752"/>
            <a:ext cx="15970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1">
                <a:solidFill>
                  <a:srgbClr val="0A2A53"/>
                </a:solidFill>
                <a:latin typeface="Pretendard"/>
              </a:rPr>
              <a:t>되돌릴 수 없음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35068" y="3044952"/>
            <a:ext cx="159709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>
                <a:solidFill>
                  <a:srgbClr val="5A6B7D"/>
                </a:solidFill>
                <a:latin typeface="Pretendard"/>
              </a:rPr>
              <a:t>취소·정정 경로가 없어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>
                <a:solidFill>
                  <a:srgbClr val="5A6B7D"/>
                </a:solidFill>
                <a:latin typeface="Pretendard"/>
              </a:rPr>
              <a:t>전화와 메모로 수습한다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735068" y="4142232"/>
            <a:ext cx="1597091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735068" y="4288536"/>
            <a:ext cx="15970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8B9AA8"/>
                </a:solidFill>
                <a:latin typeface="Pretendard"/>
              </a:rPr>
              <a:t>우리 도면에서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35068" y="4526280"/>
            <a:ext cx="159709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50" b="0">
                <a:solidFill>
                  <a:srgbClr val="F37B21"/>
                </a:solidFill>
                <a:latin typeface="Pretendard"/>
              </a:rPr>
              <a:t>부결 시 이미 만든 보증서·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50" b="0">
                <a:solidFill>
                  <a:srgbClr val="F37B21"/>
                </a:solidFill>
                <a:latin typeface="Pretendard"/>
              </a:rPr>
              <a:t>담보등록 취소 경로 없음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5696712"/>
            <a:ext cx="10874959" cy="566928"/>
          </a:xfrm>
          <a:prstGeom prst="roundRect">
            <a:avLst>
              <a:gd name="adj" fmla="val 5000"/>
            </a:avLst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87552" y="5806440"/>
            <a:ext cx="10234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다섯 가지 모두 «기록이 부족해서» 생긴 문제가 아닙니다. «실행할 프로세스가 시스템에 없어서» 생긴 문제입니다.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783915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37B21"/>
                </a:solidFill>
                <a:latin typeface="Pretendard"/>
              </a:rPr>
              <a:t>한계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사용자가 업무를 «찾아가야» 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계정계는 메뉴 구조입니다. 무엇을 해야 하는지 아는 사람만 메뉴를 열 수 있습니다.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0136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F37B21"/>
                </a:solidFill>
                <a:latin typeface="Pretendard"/>
              </a:rPr>
              <a:t>AS-IS  ·  직원의 하루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48840"/>
            <a:ext cx="5274355" cy="2468880"/>
          </a:xfrm>
          <a:prstGeom prst="roundRect">
            <a:avLst>
              <a:gd name="adj" fmla="val 5000"/>
            </a:avLst>
          </a:prstGeom>
          <a:solidFill>
            <a:srgbClr val="FFF7F1"/>
          </a:solidFill>
          <a:ln w="13970">
            <a:solidFill>
              <a:srgbClr val="F6DB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14400" y="2363724"/>
            <a:ext cx="219456" cy="219456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350008"/>
            <a:ext cx="44056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1B2A3A"/>
                </a:solidFill>
                <a:latin typeface="Pretendard"/>
              </a:rPr>
              <a:t>출근한다. 오늘 내가 처리할 건이 몇 건인지 모른다.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2711196"/>
            <a:ext cx="219456" cy="219456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2697480"/>
            <a:ext cx="44056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1B2A3A"/>
                </a:solidFill>
                <a:latin typeface="Pretendard"/>
              </a:rPr>
              <a:t>여신 메뉴를 연다 → 접수 대기 조회 → 없다.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058668"/>
            <a:ext cx="219456" cy="219456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044952"/>
            <a:ext cx="44056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1B2A3A"/>
                </a:solidFill>
                <a:latin typeface="Pretendard"/>
              </a:rPr>
              <a:t>외환 메뉴를 연다 → 매입 대기 조회 → 3건 있다.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406140"/>
            <a:ext cx="219456" cy="219456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3392424"/>
            <a:ext cx="44056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1B2A3A"/>
                </a:solidFill>
                <a:latin typeface="Pretendard"/>
              </a:rPr>
              <a:t>메일함을 연다 → 지점장이 보완 요청한 건이 있다.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3753611"/>
            <a:ext cx="219456" cy="219456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3739896"/>
            <a:ext cx="44056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1B2A3A"/>
                </a:solidFill>
                <a:latin typeface="Pretendard"/>
              </a:rPr>
              <a:t>엑셀 체크리스트를 연다 → 어제 놓친 건이 있다.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101083"/>
            <a:ext cx="219456" cy="219456"/>
          </a:xfrm>
          <a:prstGeom prst="ellipse">
            <a:avLst/>
          </a:prstGeom>
          <a:solidFill>
            <a:srgbClr val="D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4087368"/>
            <a:ext cx="44056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D83A3A"/>
                </a:solidFill>
                <a:latin typeface="Pretendard"/>
              </a:rPr>
              <a:t>결국 «내가 기억하는 만큼» 만 처리된다.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8971" y="180136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00B3A4"/>
                </a:solidFill>
                <a:latin typeface="Pretendard"/>
              </a:rPr>
              <a:t>TO-BE  ·  BPM 워크리스트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8971" y="2148840"/>
            <a:ext cx="5274355" cy="2468880"/>
          </a:xfrm>
          <a:prstGeom prst="roundRect">
            <a:avLst>
              <a:gd name="adj" fmla="val 5000"/>
            </a:avLst>
          </a:prstGeom>
          <a:solidFill>
            <a:srgbClr val="F0FBF9"/>
          </a:solidFill>
          <a:ln w="13970">
            <a:solidFill>
              <a:srgbClr val="BF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15003" y="23500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A2A53"/>
                </a:solidFill>
                <a:latin typeface="Pretendard"/>
              </a:rPr>
              <a:t>내 할 일  (3)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15003" y="2660904"/>
            <a:ext cx="4762291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515003" y="2660904"/>
            <a:ext cx="45720" cy="420624"/>
          </a:xfrm>
          <a:prstGeom prst="rect">
            <a:avLst/>
          </a:prstGeom>
          <a:solidFill>
            <a:srgbClr val="D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7883" y="276148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여신신규 2026-0412 · 서류 검토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81767" y="2752344"/>
            <a:ext cx="774313" cy="237744"/>
          </a:xfrm>
          <a:prstGeom prst="roundRect">
            <a:avLst>
              <a:gd name="adj" fmla="val 50000"/>
            </a:avLst>
          </a:prstGeom>
          <a:solidFill>
            <a:srgbClr val="D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retendard"/>
              </a:rPr>
              <a:t>오늘 마감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5003" y="3136392"/>
            <a:ext cx="4762291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515003" y="3136392"/>
            <a:ext cx="45720" cy="420624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7883" y="323697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수출환어음 EX-0088 · 매입 승인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81767" y="3227832"/>
            <a:ext cx="415503" cy="237744"/>
          </a:xfrm>
          <a:prstGeom prst="roundRect">
            <a:avLst>
              <a:gd name="adj" fmla="val 50000"/>
            </a:avLst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retendard"/>
              </a:rPr>
              <a:t>D-1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15003" y="3611880"/>
            <a:ext cx="4762291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515003" y="3611880"/>
            <a:ext cx="45720" cy="420624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7883" y="371246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예금잔액통보 · 책임자 결재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81767" y="3703320"/>
            <a:ext cx="415503" cy="237744"/>
          </a:xfrm>
          <a:prstGeom prst="roundRect">
            <a:avLst>
              <a:gd name="adj" fmla="val 50000"/>
            </a:avLst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retendard"/>
              </a:rPr>
              <a:t>D-3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5003" y="4123944"/>
            <a:ext cx="47622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· 대기 중인 건은 자동으로 «배정»되어 목록에 올라옵니다.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· 기한이 지나면 스스로 알리고, 상급자에게 상신됩니다.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782312"/>
            <a:ext cx="10874959" cy="585216"/>
          </a:xfrm>
          <a:prstGeom prst="roundRect">
            <a:avLst>
              <a:gd name="adj" fmla="val 5000"/>
            </a:avLst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024128" y="4928616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00A0D2"/>
                </a:solidFill>
                <a:latin typeface="Pretendard"/>
              </a:rPr>
              <a:t>UI / UX 의 전환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27248" y="4901184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Pretendard"/>
              </a:rPr>
              <a:t>메뉴를 «찾아가는» 화면  →  할 일이 «찾아오는» 화면 (Pull → Push)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513832"/>
            <a:ext cx="3478682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77824" y="5623560"/>
            <a:ext cx="30397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0A2A53"/>
                </a:solidFill>
                <a:latin typeface="Pretendard"/>
              </a:rPr>
              <a:t>업무 진입 경로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" y="5897880"/>
            <a:ext cx="30397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F37B21"/>
                </a:solidFill>
                <a:latin typeface="Pretendard"/>
              </a:rPr>
              <a:t>AS-IS   메뉴 6~7단계 탐색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" y="6117336"/>
            <a:ext cx="30397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00B3A4"/>
                </a:solidFill>
                <a:latin typeface="Pretendard"/>
              </a:rPr>
              <a:t>TO-BE   워크리스트 1클릭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6506" y="5513832"/>
            <a:ext cx="3478682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75962" y="5623560"/>
            <a:ext cx="30397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0A2A53"/>
                </a:solidFill>
                <a:latin typeface="Pretendard"/>
              </a:rPr>
              <a:t>누락 방지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5962" y="5897880"/>
            <a:ext cx="30397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F37B21"/>
                </a:solidFill>
                <a:latin typeface="Pretendard"/>
              </a:rPr>
              <a:t>AS-IS   개인의 기억에 의존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5962" y="6117336"/>
            <a:ext cx="30397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00B3A4"/>
                </a:solidFill>
                <a:latin typeface="Pretendard"/>
              </a:rPr>
              <a:t>TO-BE   미처리 건 자동 잔류·알림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54644" y="5513832"/>
            <a:ext cx="3478682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274100" y="5623560"/>
            <a:ext cx="30397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0A2A53"/>
                </a:solidFill>
                <a:latin typeface="Pretendard"/>
              </a:rPr>
              <a:t>교육 비용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4100" y="5897880"/>
            <a:ext cx="30397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F37B21"/>
                </a:solidFill>
                <a:latin typeface="Pretendard"/>
              </a:rPr>
              <a:t>AS-IS   메뉴 위치를 외워야 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4100" y="6117336"/>
            <a:ext cx="30397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00B3A4"/>
                </a:solidFill>
                <a:latin typeface="Pretendard"/>
              </a:rPr>
              <a:t>TO-BE   화면이 다음 할 일을 안내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783915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37B21"/>
                </a:solidFill>
                <a:latin typeface="Pretendard"/>
              </a:rPr>
              <a:t>한계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프로세스가 «지켜졌는지» 알 수 없습니다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그려 놓은 도면과 실제 실행 사이에 아무 연결이 없습니다. 도면은 그림이고, 실행은 사람의 판단입니다.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37944"/>
            <a:ext cx="10874959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19842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수협 As-Is 도면에서 실제로 확인된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13432"/>
            <a:ext cx="24352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0A2A53"/>
                </a:solidFill>
                <a:latin typeface="Pretendard"/>
              </a:rPr>
              <a:t>게이트웨이 20개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587752"/>
            <a:ext cx="24352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D83A3A"/>
                </a:solidFill>
                <a:latin typeface="Pretendard"/>
              </a:rPr>
              <a:t>조건식 0개 — 이름만 Y / 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9131" y="2313432"/>
            <a:ext cx="24352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0A2A53"/>
                </a:solidFill>
                <a:latin typeface="Pretendard"/>
              </a:rPr>
              <a:t>액티비티 약 120개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9131" y="2587752"/>
            <a:ext cx="24352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D83A3A"/>
                </a:solidFill>
                <a:latin typeface="Pretendard"/>
              </a:rPr>
              <a:t>입·출력 데이터 정의 0개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2313432"/>
            <a:ext cx="24352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0A2A53"/>
                </a:solidFill>
                <a:latin typeface="Pretendard"/>
              </a:rPr>
              <a:t>프로세스 변수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2587752"/>
            <a:ext cx="24352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D83A3A"/>
                </a:solidFill>
                <a:latin typeface="Pretendard"/>
              </a:rPr>
              <a:t>선언 0개 — 데이터가 흐르지 않음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443" y="2313432"/>
            <a:ext cx="24352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0A2A53"/>
                </a:solidFill>
                <a:latin typeface="Pretendard"/>
              </a:rPr>
              <a:t>담당자 지정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443" y="2587752"/>
            <a:ext cx="24352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D83A3A"/>
                </a:solidFill>
                <a:latin typeface="Pretendard"/>
              </a:rPr>
              <a:t>endpoint: null — 아무에게도 배정 안 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19125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0A2A53"/>
                </a:solidFill>
                <a:latin typeface="Pretendard"/>
              </a:rPr>
              <a:t>그 결과 — 준수율이 «측정 불가» 합니다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593592"/>
            <a:ext cx="5654978" cy="475488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77824" y="3712464"/>
            <a:ext cx="52892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Q.  이 건은 규정된 순서대로 처리됐나?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422096" y="3730752"/>
            <a:ext cx="310896" cy="201168"/>
          </a:xfrm>
          <a:prstGeom prst="rightArrow">
            <a:avLst/>
          </a:prstGeom>
          <a:solidFill>
            <a:srgbClr val="C6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77828" y="3712464"/>
            <a:ext cx="45674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D83A3A"/>
                </a:solidFill>
                <a:latin typeface="Pretendard"/>
              </a:rPr>
              <a:t>확인 불가 — 순서를 강제하는 주체가 없음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091940"/>
            <a:ext cx="5654978" cy="475488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77824" y="4210812"/>
            <a:ext cx="52892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Q.  필수 서류 검토를 건너뛴 건은 몇 건인가?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422096" y="4229100"/>
            <a:ext cx="310896" cy="201168"/>
          </a:xfrm>
          <a:prstGeom prst="rightArrow">
            <a:avLst/>
          </a:prstGeom>
          <a:solidFill>
            <a:srgbClr val="C6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77828" y="4210812"/>
            <a:ext cx="45674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D83A3A"/>
                </a:solidFill>
                <a:latin typeface="Pretendard"/>
              </a:rPr>
              <a:t>확인 불가 — 단계 이력이 남지 않음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590288"/>
            <a:ext cx="5654978" cy="475488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77824" y="4709160"/>
            <a:ext cx="52892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Q.  결재권한 기준을 넘겨 승인된 건이 있나?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422096" y="4727448"/>
            <a:ext cx="310896" cy="201168"/>
          </a:xfrm>
          <a:prstGeom prst="rightArrow">
            <a:avLst/>
          </a:prstGeom>
          <a:solidFill>
            <a:srgbClr val="C6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77828" y="4709160"/>
            <a:ext cx="45674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D83A3A"/>
                </a:solidFill>
                <a:latin typeface="Pretendard"/>
              </a:rPr>
              <a:t>사후 감사로만 발견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088636"/>
            <a:ext cx="5654978" cy="475488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77824" y="5207508"/>
            <a:ext cx="52892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Q.  평균 처리시간이 가장 긴 단계는 어디인가?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422096" y="5225796"/>
            <a:ext cx="310896" cy="201168"/>
          </a:xfrm>
          <a:prstGeom prst="rightArrow">
            <a:avLst/>
          </a:prstGeom>
          <a:solidFill>
            <a:srgbClr val="C6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77828" y="5207508"/>
            <a:ext cx="45674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D83A3A"/>
                </a:solidFill>
                <a:latin typeface="Pretendard"/>
              </a:rPr>
              <a:t>집계 불가 — 단계 개념 자체가 없음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715000"/>
            <a:ext cx="10874959" cy="694944"/>
          </a:xfrm>
          <a:prstGeom prst="roundRect">
            <a:avLst>
              <a:gd name="adj" fmla="val 5000"/>
            </a:avLst>
          </a:prstGeom>
          <a:solidFill>
            <a:srgbClr val="FFF3F3"/>
          </a:solidFill>
          <a:ln w="13970">
            <a:solidFill>
              <a:srgbClr val="F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87552" y="5815584"/>
            <a:ext cx="102165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1350" b="1">
                <a:solidFill>
                  <a:srgbClr val="D83A3A"/>
                </a:solidFill>
                <a:latin typeface="Pretendard"/>
              </a:rPr>
              <a:t>규제·감독 대응은 «했다» 가 아니라 «했음을 증명할 수 있다» 여야 합니다.</a:t>
            </a:r>
          </a:p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1350" b="1">
                <a:solidFill>
                  <a:srgbClr val="D83A3A"/>
                </a:solidFill>
                <a:latin typeface="Pretendard"/>
              </a:rPr>
              <a:t>실행되지 않는 도면은 증거가 되지 못합니다.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783915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37B21"/>
                </a:solidFill>
                <a:latin typeface="Pretendard"/>
              </a:rPr>
              <a:t>한계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정책이 바뀌면, 개발이 끝나야 현장이 바뀝니다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금융은 규칙이 자주 바뀌는 산업입니다. 그런데 그 규칙이 프로그램 코드 안에 들어 있습니다.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0136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0A2A53"/>
                </a:solidFill>
                <a:latin typeface="Pretendard"/>
              </a:rPr>
              <a:t>실제로 자주 바뀌는 규칙들 — 수협 여신신규 도면에서 추출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48840"/>
            <a:ext cx="3503066" cy="566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58368" y="2148840"/>
            <a:ext cx="45720" cy="566928"/>
          </a:xfrm>
          <a:prstGeom prst="rect">
            <a:avLst/>
          </a:prstGeom>
          <a:solidFill>
            <a:srgbClr val="D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240280"/>
            <a:ext cx="31007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DTI / DSR 산출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478024"/>
            <a:ext cx="310073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83A3A"/>
                </a:solidFill>
                <a:latin typeface="Pretendard"/>
              </a:rPr>
              <a:t>변경 빈도 · 정부 정책 변경 시 수시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4314" y="2148840"/>
            <a:ext cx="3503066" cy="566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44314" y="2148840"/>
            <a:ext cx="45720" cy="566928"/>
          </a:xfrm>
          <a:prstGeom prst="rect">
            <a:avLst/>
          </a:prstGeom>
          <a:solidFill>
            <a:srgbClr val="D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5482" y="2240280"/>
            <a:ext cx="31007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기준금리 · 가산금리 매트릭스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5482" y="2478024"/>
            <a:ext cx="310073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83A3A"/>
                </a:solidFill>
                <a:latin typeface="Pretendard"/>
              </a:rPr>
              <a:t>변경 빈도 · 월 / 수시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0260" y="2148840"/>
            <a:ext cx="3503066" cy="566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30260" y="2148840"/>
            <a:ext cx="45720" cy="566928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1428" y="2240280"/>
            <a:ext cx="31007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조정 · 우대금리 적용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1428" y="2478024"/>
            <a:ext cx="310073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F37B21"/>
                </a:solidFill>
                <a:latin typeface="Pretendard"/>
              </a:rPr>
              <a:t>변경 빈도 · 수시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2807208"/>
            <a:ext cx="3503066" cy="566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58368" y="2807208"/>
            <a:ext cx="45720" cy="566928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2898648"/>
            <a:ext cx="31007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대출가능금액 (LTV)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3136392"/>
            <a:ext cx="310073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F37B21"/>
                </a:solidFill>
                <a:latin typeface="Pretendard"/>
              </a:rPr>
              <a:t>변경 빈도 · 규제지역 지정 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4314" y="2807208"/>
            <a:ext cx="3503066" cy="566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344314" y="2807208"/>
            <a:ext cx="45720" cy="566928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5482" y="2898648"/>
            <a:ext cx="31007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본부승인 대상 여부 (결재권한)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5482" y="3136392"/>
            <a:ext cx="310073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0060AE"/>
                </a:solidFill>
                <a:latin typeface="Pretendard"/>
              </a:rPr>
              <a:t>변경 빈도 · 반기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30260" y="2807208"/>
            <a:ext cx="3503066" cy="566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8030260" y="2807208"/>
            <a:ext cx="45720" cy="566928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31428" y="2898648"/>
            <a:ext cx="31007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보증서 발급 가능 여부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1428" y="3136392"/>
            <a:ext cx="310073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F37B21"/>
                </a:solidFill>
                <a:latin typeface="Pretendard"/>
              </a:rPr>
              <a:t>변경 빈도 · 수시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63016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F37B21"/>
                </a:solidFill>
                <a:latin typeface="Pretendard"/>
              </a:rPr>
              <a:t>AS-IS  ·  규칙 하나 바꾸는 데 걸리는 길</a:t>
            </a:r>
          </a:p>
        </p:txBody>
      </p:sp>
      <p:sp>
        <p:nvSpPr>
          <p:cNvPr id="36" name="Pentagon 35"/>
          <p:cNvSpPr/>
          <p:nvPr/>
        </p:nvSpPr>
        <p:spPr>
          <a:xfrm>
            <a:off x="658368" y="3959352"/>
            <a:ext cx="1506539" cy="566928"/>
          </a:xfrm>
          <a:prstGeom prst="homePlate">
            <a:avLst/>
          </a:prstGeom>
          <a:solidFill>
            <a:srgbClr val="B6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</a:rPr>
              <a:t>정책 공고</a:t>
            </a:r>
          </a:p>
        </p:txBody>
      </p:sp>
      <p:sp>
        <p:nvSpPr>
          <p:cNvPr id="37" name="Chevron 36"/>
          <p:cNvSpPr/>
          <p:nvPr/>
        </p:nvSpPr>
        <p:spPr>
          <a:xfrm>
            <a:off x="2219771" y="3959352"/>
            <a:ext cx="1506539" cy="566928"/>
          </a:xfrm>
          <a:prstGeom prst="chevron">
            <a:avLst/>
          </a:prstGeom>
          <a:solidFill>
            <a:srgbClr val="B6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</a:rPr>
              <a:t>현업 요건 정리</a:t>
            </a:r>
          </a:p>
        </p:txBody>
      </p:sp>
      <p:sp>
        <p:nvSpPr>
          <p:cNvPr id="38" name="Chevron 37"/>
          <p:cNvSpPr/>
          <p:nvPr/>
        </p:nvSpPr>
        <p:spPr>
          <a:xfrm>
            <a:off x="3781174" y="3959352"/>
            <a:ext cx="1506539" cy="566928"/>
          </a:xfrm>
          <a:prstGeom prst="chevron">
            <a:avLst/>
          </a:prstGeom>
          <a:solidFill>
            <a:srgbClr val="B6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</a:rPr>
              <a:t>개발 요청</a:t>
            </a:r>
          </a:p>
        </p:txBody>
      </p:sp>
      <p:sp>
        <p:nvSpPr>
          <p:cNvPr id="39" name="Chevron 38"/>
          <p:cNvSpPr/>
          <p:nvPr/>
        </p:nvSpPr>
        <p:spPr>
          <a:xfrm>
            <a:off x="5342577" y="3959352"/>
            <a:ext cx="1506539" cy="566928"/>
          </a:xfrm>
          <a:prstGeom prst="chevron">
            <a:avLst/>
          </a:prstGeom>
          <a:solidFill>
            <a:srgbClr val="B6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</a:rPr>
              <a:t>코드 수정</a:t>
            </a:r>
          </a:p>
        </p:txBody>
      </p:sp>
      <p:sp>
        <p:nvSpPr>
          <p:cNvPr id="40" name="Chevron 39"/>
          <p:cNvSpPr/>
          <p:nvPr/>
        </p:nvSpPr>
        <p:spPr>
          <a:xfrm>
            <a:off x="6903981" y="3959352"/>
            <a:ext cx="1506539" cy="566928"/>
          </a:xfrm>
          <a:prstGeom prst="chevron">
            <a:avLst/>
          </a:prstGeom>
          <a:solidFill>
            <a:srgbClr val="B6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</a:rPr>
              <a:t>테스트</a:t>
            </a:r>
          </a:p>
        </p:txBody>
      </p:sp>
      <p:sp>
        <p:nvSpPr>
          <p:cNvPr id="41" name="Chevron 40"/>
          <p:cNvSpPr/>
          <p:nvPr/>
        </p:nvSpPr>
        <p:spPr>
          <a:xfrm>
            <a:off x="8465384" y="3959352"/>
            <a:ext cx="1506539" cy="566928"/>
          </a:xfrm>
          <a:prstGeom prst="chevron">
            <a:avLst/>
          </a:prstGeom>
          <a:solidFill>
            <a:srgbClr val="B6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</a:rPr>
              <a:t>배포 · 재기동</a:t>
            </a:r>
          </a:p>
        </p:txBody>
      </p:sp>
      <p:sp>
        <p:nvSpPr>
          <p:cNvPr id="42" name="Chevron 41"/>
          <p:cNvSpPr/>
          <p:nvPr/>
        </p:nvSpPr>
        <p:spPr>
          <a:xfrm>
            <a:off x="10026787" y="3959352"/>
            <a:ext cx="1506539" cy="566928"/>
          </a:xfrm>
          <a:prstGeom prst="chevron">
            <a:avLst/>
          </a:prstGeom>
          <a:solidFill>
            <a:srgbClr val="B6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</a:rPr>
              <a:t>현장 반영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459943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D83A3A"/>
                </a:solidFill>
                <a:latin typeface="Pretendard"/>
              </a:rPr>
              <a:t>수 주 ~ 수 개월  ·  그 사이 현장은 «구 기준» 으로 처리합니다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02005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00B3A4"/>
                </a:solidFill>
                <a:latin typeface="Pretendard"/>
              </a:rPr>
              <a:t>TO-BE  ·  규칙을 프로세스 밖으로 꺼내면 (DMN)</a:t>
            </a:r>
          </a:p>
        </p:txBody>
      </p:sp>
      <p:sp>
        <p:nvSpPr>
          <p:cNvPr id="45" name="Pentagon 44"/>
          <p:cNvSpPr/>
          <p:nvPr/>
        </p:nvSpPr>
        <p:spPr>
          <a:xfrm>
            <a:off x="658368" y="5349240"/>
            <a:ext cx="1644470" cy="566928"/>
          </a:xfrm>
          <a:prstGeom prst="homePlat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retendard"/>
              </a:rPr>
              <a:t>정책 공고</a:t>
            </a:r>
          </a:p>
        </p:txBody>
      </p:sp>
      <p:sp>
        <p:nvSpPr>
          <p:cNvPr id="46" name="Chevron 45"/>
          <p:cNvSpPr/>
          <p:nvPr/>
        </p:nvSpPr>
        <p:spPr>
          <a:xfrm>
            <a:off x="2357702" y="5349240"/>
            <a:ext cx="1644470" cy="566928"/>
          </a:xfrm>
          <a:prstGeom prst="chevron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retendard"/>
              </a:rPr>
              <a:t>규칙표 수정</a:t>
            </a:r>
          </a:p>
        </p:txBody>
      </p:sp>
      <p:sp>
        <p:nvSpPr>
          <p:cNvPr id="47" name="Chevron 46"/>
          <p:cNvSpPr/>
          <p:nvPr/>
        </p:nvSpPr>
        <p:spPr>
          <a:xfrm>
            <a:off x="4057037" y="5349240"/>
            <a:ext cx="1644470" cy="566928"/>
          </a:xfrm>
          <a:prstGeom prst="chevron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retendard"/>
              </a:rPr>
              <a:t>저장</a:t>
            </a:r>
          </a:p>
        </p:txBody>
      </p:sp>
      <p:sp>
        <p:nvSpPr>
          <p:cNvPr id="48" name="Chevron 47"/>
          <p:cNvSpPr/>
          <p:nvPr/>
        </p:nvSpPr>
        <p:spPr>
          <a:xfrm>
            <a:off x="5756372" y="5349240"/>
            <a:ext cx="1644470" cy="566928"/>
          </a:xfrm>
          <a:prstGeom prst="chevron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retendard"/>
              </a:rPr>
              <a:t>다음 건부터 즉시 적용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72716" y="5349240"/>
            <a:ext cx="3860610" cy="566928"/>
          </a:xfrm>
          <a:prstGeom prst="roundRect">
            <a:avLst>
              <a:gd name="adj" fmla="val 9000"/>
            </a:avLst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72716" y="5477256"/>
            <a:ext cx="38606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Pretendard"/>
              </a:rPr>
              <a:t>프로세스 재배포 없음 · 무중단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783915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37B21"/>
                </a:solidFill>
                <a:latin typeface="Pretendard"/>
              </a:rPr>
              <a:t>한계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자동화되지 않은 «틈새»가 그대로 남아 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큰 시스템은 자동화되어 있지만, 시스템과 시스템 사이의 일은 여전히 사람이 창을 열어 처리합니다.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013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0A2A53"/>
                </a:solidFill>
                <a:latin typeface="Pretendard"/>
              </a:rPr>
              <a:t>수협 도면에서 «사람이 외부 화면을 여는» 것으로 그려진 업무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130552"/>
            <a:ext cx="10874959" cy="370149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6384" y="2130552"/>
            <a:ext cx="2411582" cy="3701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원본 Task (도면 그대로)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7422" y="2130552"/>
            <a:ext cx="1709972" cy="3701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실제 대상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6850" y="2130552"/>
            <a:ext cx="2586985" cy="3701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3291" y="2130552"/>
            <a:ext cx="3288595" cy="3701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BPM 적용 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500701"/>
            <a:ext cx="241158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KB / 국토교통부 시세조회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7422" y="2500701"/>
            <a:ext cx="17099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KB부동산 · 실거래가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6850" y="2500701"/>
            <a:ext cx="258698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사람이 웹 조회 후 수기 입력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3291" y="2500701"/>
            <a:ext cx="328859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RPA Task — 봇이 조회 후 변수 자동 반영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2500701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58368" y="2903037"/>
            <a:ext cx="10874959" cy="402336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" y="2903037"/>
            <a:ext cx="241158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부동산 등기 결과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7422" y="2903037"/>
            <a:ext cx="17099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인터넷등기소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6850" y="2903037"/>
            <a:ext cx="258698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사람이 발급 · 출력 · 스캔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3291" y="2903037"/>
            <a:ext cx="328859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RPA Task — PDF 자동 첨부 + 항목 파싱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2903037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86384" y="3305373"/>
            <a:ext cx="241158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공공마이데이터 정보 등록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7422" y="3305373"/>
            <a:ext cx="17099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정부24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6850" y="3305373"/>
            <a:ext cx="258698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사람이 조회 후 재입력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3291" y="3305373"/>
            <a:ext cx="328859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RPA Task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3305373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58368" y="3707709"/>
            <a:ext cx="10874959" cy="402336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86384" y="3707709"/>
            <a:ext cx="241158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실명확인(신분증 진위확인)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17422" y="3707709"/>
            <a:ext cx="17099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금융결제원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6850" y="3707709"/>
            <a:ext cx="258698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사람이 화면 입력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3291" y="3707709"/>
            <a:ext cx="328859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RPA Task / ServiceTask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8368" y="3707709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6384" y="4110045"/>
            <a:ext cx="241158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통보대상 계좌 조회 및 출력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17422" y="4110045"/>
            <a:ext cx="17099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계정계 DB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6850" y="4110045"/>
            <a:ext cx="258698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사람이 조회화면 실행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3291" y="4110045"/>
            <a:ext cx="328859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SQL Task — 결과 N건이 프로세스 변수로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58368" y="4110045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658368" y="4512381"/>
            <a:ext cx="10874959" cy="402336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86384" y="4512381"/>
            <a:ext cx="241158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예금잔액조회 기록부 보관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7422" y="4512381"/>
            <a:ext cx="17099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계정계 DB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6850" y="4512381"/>
            <a:ext cx="258698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사람이 등록화면 실행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53291" y="4512381"/>
            <a:ext cx="328859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SQL Task (INSERT)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58368" y="4512381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86384" y="4914717"/>
            <a:ext cx="241158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수출대금 송금 전문 발송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17422" y="4914717"/>
            <a:ext cx="17099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SWIFT 게이트웨이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46850" y="4914717"/>
            <a:ext cx="258698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사람이 전문화면에서 전송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53291" y="4914717"/>
            <a:ext cx="328859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Send Task — 전문 자동 송신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58368" y="4914717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58368" y="5317053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658368" y="5550407"/>
            <a:ext cx="5274355" cy="786384"/>
          </a:xfrm>
          <a:prstGeom prst="roundRect">
            <a:avLst>
              <a:gd name="adj" fmla="val 5000"/>
            </a:avLst>
          </a:prstGeom>
          <a:solidFill>
            <a:srgbClr val="FFF7F1"/>
          </a:solidFill>
          <a:ln w="13970">
            <a:solidFill>
              <a:srgbClr val="F6DB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14400" y="5678423"/>
            <a:ext cx="47622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1B2A3A"/>
                </a:solidFill>
                <a:latin typeface="Pretendard"/>
              </a:rPr>
              <a:t>여신 1건 처리에 외부 사이트 조회만 5회 이상.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1B2A3A"/>
                </a:solidFill>
                <a:latin typeface="Pretendard"/>
              </a:rPr>
              <a:t>조회한 값을 다시 손으로 옮겨 적으며 오타가 발생합니다.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8971" y="5550407"/>
            <a:ext cx="5274355" cy="786384"/>
          </a:xfrm>
          <a:prstGeom prst="roundRect">
            <a:avLst>
              <a:gd name="adj" fmla="val 5000"/>
            </a:avLst>
          </a:prstGeom>
          <a:solidFill>
            <a:srgbClr val="F0FBF9"/>
          </a:solidFill>
          <a:ln w="13970">
            <a:solidFill>
              <a:srgbClr val="BF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515003" y="5678423"/>
            <a:ext cx="47622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1B2A3A"/>
                </a:solidFill>
                <a:latin typeface="Pretendard"/>
              </a:rPr>
              <a:t>BPM 은 봇을 «던져 놓고 잊는» 것이 아니라, 결과를 기다리고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1B2A3A"/>
                </a:solidFill>
                <a:latin typeface="Pretendard"/>
              </a:rPr>
              <a:t>지연·실패를 SLA 로 관리하며 실패 시 사람으로 되돌립니다.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783915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37B21"/>
                </a:solidFill>
                <a:latin typeface="Pretendard"/>
              </a:rPr>
              <a:t>한계 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이미 만들어 놓은 것을 «되돌릴» 방법이 없습니다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여신은 앞 단계마다 계정계·보증기관·등기소에 실제 데이터를 남깁니다. 부결되면 그것을 전부 되돌려야 합니다.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013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0A2A53"/>
                </a:solidFill>
                <a:latin typeface="Pretendard"/>
              </a:rPr>
              <a:t>여신신규 도면의 뒷부분 — 비가역적 등록의 연쇄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48840"/>
            <a:ext cx="1443837" cy="694944"/>
          </a:xfrm>
          <a:prstGeom prst="roundRect">
            <a:avLst>
              <a:gd name="adj" fmla="val 9000"/>
            </a:avLst>
          </a:prstGeom>
          <a:solidFill>
            <a:srgbClr val="E8EFF6"/>
          </a:solidFill>
          <a:ln w="13970">
            <a:solidFill>
              <a:srgbClr val="C9D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144383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여신·담보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예정등록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106777" y="2404872"/>
            <a:ext cx="118872" cy="164592"/>
          </a:xfrm>
          <a:prstGeom prst="rightArrow">
            <a:avLst/>
          </a:prstGeom>
          <a:solidFill>
            <a:srgbClr val="B0C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30221" y="2148840"/>
            <a:ext cx="1443837" cy="694944"/>
          </a:xfrm>
          <a:prstGeom prst="roundRect">
            <a:avLst>
              <a:gd name="adj" fmla="val 9000"/>
            </a:avLst>
          </a:prstGeom>
          <a:solidFill>
            <a:srgbClr val="E8EFF6"/>
          </a:solidFill>
          <a:ln w="13970">
            <a:solidFill>
              <a:srgbClr val="C9D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230221" y="2258568"/>
            <a:ext cx="144383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보증서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발급신청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78631" y="2404872"/>
            <a:ext cx="118872" cy="164592"/>
          </a:xfrm>
          <a:prstGeom prst="rightArrow">
            <a:avLst/>
          </a:prstGeom>
          <a:solidFill>
            <a:srgbClr val="B0C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02075" y="2148840"/>
            <a:ext cx="1443837" cy="694944"/>
          </a:xfrm>
          <a:prstGeom prst="roundRect">
            <a:avLst>
              <a:gd name="adj" fmla="val 9000"/>
            </a:avLst>
          </a:prstGeom>
          <a:solidFill>
            <a:srgbClr val="E8EFF6"/>
          </a:solidFill>
          <a:ln w="13970">
            <a:solidFill>
              <a:srgbClr val="C9D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802075" y="2258568"/>
            <a:ext cx="144383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보증서 발급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250484" y="2404872"/>
            <a:ext cx="118872" cy="164592"/>
          </a:xfrm>
          <a:prstGeom prst="rightArrow">
            <a:avLst/>
          </a:prstGeom>
          <a:solidFill>
            <a:srgbClr val="B0C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73928" y="2148840"/>
            <a:ext cx="1443837" cy="694944"/>
          </a:xfrm>
          <a:prstGeom prst="roundRect">
            <a:avLst>
              <a:gd name="adj" fmla="val 9000"/>
            </a:avLst>
          </a:prstGeom>
          <a:solidFill>
            <a:srgbClr val="E8EFF6"/>
          </a:solidFill>
          <a:ln w="13970">
            <a:solidFill>
              <a:srgbClr val="C9D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3928" y="2258568"/>
            <a:ext cx="144383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보증서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담보등록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822338" y="2404872"/>
            <a:ext cx="118872" cy="164592"/>
          </a:xfrm>
          <a:prstGeom prst="rightArrow">
            <a:avLst/>
          </a:prstGeom>
          <a:solidFill>
            <a:srgbClr val="B0C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45782" y="2148840"/>
            <a:ext cx="1443837" cy="694944"/>
          </a:xfrm>
          <a:prstGeom prst="roundRect">
            <a:avLst>
              <a:gd name="adj" fmla="val 9000"/>
            </a:avLst>
          </a:prstGeom>
          <a:solidFill>
            <a:srgbClr val="E8EFF6"/>
          </a:solidFill>
          <a:ln w="13970">
            <a:solidFill>
              <a:srgbClr val="C9D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945782" y="2258568"/>
            <a:ext cx="144383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여신 담보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연결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394192" y="2404872"/>
            <a:ext cx="118872" cy="164592"/>
          </a:xfrm>
          <a:prstGeom prst="rightArrow">
            <a:avLst/>
          </a:prstGeom>
          <a:solidFill>
            <a:srgbClr val="B0C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17636" y="2148840"/>
            <a:ext cx="1443837" cy="694944"/>
          </a:xfrm>
          <a:prstGeom prst="roundRect">
            <a:avLst>
              <a:gd name="adj" fmla="val 9000"/>
            </a:avLst>
          </a:prstGeom>
          <a:solidFill>
            <a:srgbClr val="E8EFF6"/>
          </a:solidFill>
          <a:ln w="13970">
            <a:solidFill>
              <a:srgbClr val="C9D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517636" y="2258568"/>
            <a:ext cx="144383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약정등록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966045" y="2404872"/>
            <a:ext cx="118872" cy="164592"/>
          </a:xfrm>
          <a:prstGeom prst="rightArrow">
            <a:avLst/>
          </a:prstGeom>
          <a:solidFill>
            <a:srgbClr val="B0C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89489" y="2148840"/>
            <a:ext cx="1443837" cy="694944"/>
          </a:xfrm>
          <a:prstGeom prst="roundRect">
            <a:avLst>
              <a:gd name="adj" fmla="val 9000"/>
            </a:avLst>
          </a:prstGeom>
          <a:solidFill>
            <a:srgbClr val="E8EFF6"/>
          </a:solidFill>
          <a:ln w="13970">
            <a:solidFill>
              <a:srgbClr val="C9D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89489" y="2258568"/>
            <a:ext cx="144383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여신실행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29169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Pretendard"/>
              </a:rPr>
              <a:t>각 단계가 외부 시스템에 실제 레코드를 남깁니다 — 계정계 / 서울보증 / 인터넷등기소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337560"/>
            <a:ext cx="5274355" cy="2103120"/>
          </a:xfrm>
          <a:prstGeom prst="roundRect">
            <a:avLst>
              <a:gd name="adj" fmla="val 5000"/>
            </a:avLst>
          </a:prstGeom>
          <a:solidFill>
            <a:srgbClr val="FFF6F6"/>
          </a:solidFill>
          <a:ln w="13970">
            <a:solidFill>
              <a:srgbClr val="F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914400" y="352044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D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AS-IS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867912"/>
            <a:ext cx="47622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A2A53"/>
                </a:solidFill>
                <a:latin typeface="Pretendard"/>
              </a:rPr>
              <a:t>부결 통보하고 끝 — 뒤처리는 사람 몫</a:t>
            </a:r>
          </a:p>
        </p:txBody>
      </p:sp>
      <p:sp>
        <p:nvSpPr>
          <p:cNvPr id="35" name="Oval 34"/>
          <p:cNvSpPr/>
          <p:nvPr/>
        </p:nvSpPr>
        <p:spPr>
          <a:xfrm>
            <a:off x="914400" y="4302252"/>
            <a:ext cx="68580" cy="68580"/>
          </a:xfrm>
          <a:prstGeom prst="ellipse">
            <a:avLst/>
          </a:prstGeom>
          <a:solidFill>
            <a:srgbClr val="D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206240"/>
            <a:ext cx="4542835" cy="4681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 b="0">
                <a:solidFill>
                  <a:srgbClr val="5A6B7D"/>
                </a:solidFill>
                <a:latin typeface="Pretendard"/>
              </a:rPr>
              <a:t>취소 경로가 도면에 아예 없다</a:t>
            </a:r>
          </a:p>
        </p:txBody>
      </p:sp>
      <p:sp>
        <p:nvSpPr>
          <p:cNvPr id="37" name="Oval 36"/>
          <p:cNvSpPr/>
          <p:nvPr/>
        </p:nvSpPr>
        <p:spPr>
          <a:xfrm>
            <a:off x="914400" y="4594860"/>
            <a:ext cx="68580" cy="68580"/>
          </a:xfrm>
          <a:prstGeom prst="ellipse">
            <a:avLst/>
          </a:prstGeom>
          <a:solidFill>
            <a:srgbClr val="D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4498848"/>
            <a:ext cx="4542835" cy="4681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 b="0">
                <a:solidFill>
                  <a:srgbClr val="5A6B7D"/>
                </a:solidFill>
                <a:latin typeface="Pretendard"/>
              </a:rPr>
              <a:t>취소 순서(역순)가 강제되지 않는다</a:t>
            </a:r>
          </a:p>
        </p:txBody>
      </p:sp>
      <p:sp>
        <p:nvSpPr>
          <p:cNvPr id="39" name="Oval 38"/>
          <p:cNvSpPr/>
          <p:nvPr/>
        </p:nvSpPr>
        <p:spPr>
          <a:xfrm>
            <a:off x="914400" y="4887468"/>
            <a:ext cx="68580" cy="68580"/>
          </a:xfrm>
          <a:prstGeom prst="ellipse">
            <a:avLst/>
          </a:prstGeom>
          <a:solidFill>
            <a:srgbClr val="D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4791456"/>
            <a:ext cx="4542835" cy="4681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 b="0">
                <a:solidFill>
                  <a:srgbClr val="5A6B7D"/>
                </a:solidFill>
                <a:latin typeface="Pretendard"/>
              </a:rPr>
              <a:t>어디까지 진행됐는지 사람이 기억해서 판단</a:t>
            </a:r>
          </a:p>
        </p:txBody>
      </p:sp>
      <p:sp>
        <p:nvSpPr>
          <p:cNvPr id="41" name="Oval 40"/>
          <p:cNvSpPr/>
          <p:nvPr/>
        </p:nvSpPr>
        <p:spPr>
          <a:xfrm>
            <a:off x="914400" y="5180076"/>
            <a:ext cx="68580" cy="68580"/>
          </a:xfrm>
          <a:prstGeom prst="ellipse">
            <a:avLst/>
          </a:prstGeom>
          <a:solidFill>
            <a:srgbClr val="D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084064"/>
            <a:ext cx="4542835" cy="4681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 b="0">
                <a:solidFill>
                  <a:srgbClr val="5A6B7D"/>
                </a:solidFill>
                <a:latin typeface="Pretendard"/>
              </a:rPr>
              <a:t>누락되면 유령 보증서 · 미해지 담보로 남는다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58971" y="3337560"/>
            <a:ext cx="5274355" cy="2103120"/>
          </a:xfrm>
          <a:prstGeom prst="roundRect">
            <a:avLst>
              <a:gd name="adj" fmla="val 5000"/>
            </a:avLst>
          </a:prstGeom>
          <a:solidFill>
            <a:srgbClr val="F0FBF9"/>
          </a:solidFill>
          <a:ln w="13970">
            <a:solidFill>
              <a:srgbClr val="BF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6515003" y="3520440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TO-BE · Compensation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15003" y="3867912"/>
            <a:ext cx="47622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A2A53"/>
                </a:solidFill>
                <a:latin typeface="Pretendard"/>
              </a:rPr>
              <a:t>완료된 것만, 역순으로, 엔진이 자동 취소</a:t>
            </a:r>
          </a:p>
        </p:txBody>
      </p:sp>
      <p:sp>
        <p:nvSpPr>
          <p:cNvPr id="46" name="Oval 45"/>
          <p:cNvSpPr/>
          <p:nvPr/>
        </p:nvSpPr>
        <p:spPr>
          <a:xfrm>
            <a:off x="6515003" y="4302252"/>
            <a:ext cx="68580" cy="6858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97883" y="4206240"/>
            <a:ext cx="4542835" cy="4681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 b="0">
                <a:solidFill>
                  <a:srgbClr val="5A6B7D"/>
                </a:solidFill>
                <a:latin typeface="Pretendard"/>
              </a:rPr>
              <a:t>«취소 화살표»를 한 개도 그리지 않는다</a:t>
            </a:r>
          </a:p>
        </p:txBody>
      </p:sp>
      <p:sp>
        <p:nvSpPr>
          <p:cNvPr id="48" name="Oval 47"/>
          <p:cNvSpPr/>
          <p:nvPr/>
        </p:nvSpPr>
        <p:spPr>
          <a:xfrm>
            <a:off x="6515003" y="4594860"/>
            <a:ext cx="68580" cy="6858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7883" y="4498848"/>
            <a:ext cx="4542835" cy="4681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 b="0">
                <a:solidFill>
                  <a:srgbClr val="5A6B7D"/>
                </a:solidFill>
                <a:latin typeface="Pretendard"/>
              </a:rPr>
              <a:t>2단계까지 갔으면 2개, 6단계면 6개만 취소</a:t>
            </a:r>
          </a:p>
        </p:txBody>
      </p:sp>
      <p:sp>
        <p:nvSpPr>
          <p:cNvPr id="50" name="Oval 49"/>
          <p:cNvSpPr/>
          <p:nvPr/>
        </p:nvSpPr>
        <p:spPr>
          <a:xfrm>
            <a:off x="6515003" y="4887468"/>
            <a:ext cx="68580" cy="6858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97883" y="4791456"/>
            <a:ext cx="4542835" cy="4681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 b="0">
                <a:solidFill>
                  <a:srgbClr val="5A6B7D"/>
                </a:solidFill>
                <a:latin typeface="Pretendard"/>
              </a:rPr>
              <a:t>담보연결 해제 → 담보등록 해제 → 보증서 반환 → 예정등록 취소</a:t>
            </a:r>
          </a:p>
        </p:txBody>
      </p:sp>
      <p:sp>
        <p:nvSpPr>
          <p:cNvPr id="52" name="Oval 51"/>
          <p:cNvSpPr/>
          <p:nvPr/>
        </p:nvSpPr>
        <p:spPr>
          <a:xfrm>
            <a:off x="6515003" y="5180076"/>
            <a:ext cx="68580" cy="6858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97883" y="5084064"/>
            <a:ext cx="4542835" cy="4681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 b="0">
                <a:solidFill>
                  <a:srgbClr val="5A6B7D"/>
                </a:solidFill>
                <a:latin typeface="Pretendard"/>
              </a:rPr>
              <a:t>되돌린 뒤 그 지점부터 «재개»까지 가능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" y="5641848"/>
            <a:ext cx="10874959" cy="658368"/>
          </a:xfrm>
          <a:prstGeom prst="roundRect">
            <a:avLst>
              <a:gd name="adj" fmla="val 5000"/>
            </a:avLst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024128" y="5769864"/>
            <a:ext cx="101434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retendard"/>
              </a:rPr>
              <a:t>이 «자동 되돌림» 이 데모에서 가장 임팩트가 큰 장면입니다.  (시나리오 1 · 통합데모 12번)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1255654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60AE"/>
                </a:solidFill>
                <a:latin typeface="Pretendard"/>
              </a:rPr>
              <a:t>PART 1 · 진단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수협 실제 도면 7종을 그대로 분석했습니다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«BPM 이 필요하다» 는 주장이 아니라, 제출해 주신 도면에서 그대로 읽힌 숫자입니다.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56232"/>
            <a:ext cx="2014057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2097633"/>
            <a:ext cx="2014057" cy="506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060AE"/>
                </a:solidFill>
                <a:latin typeface="Pretendard"/>
              </a:rPr>
              <a:t>7개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52857"/>
            <a:ext cx="2014057" cy="3621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Pretendard"/>
              </a:rPr>
              <a:t>분석한 업무 도면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3593" y="1856232"/>
            <a:ext cx="2014057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73593" y="2097633"/>
            <a:ext cx="2014057" cy="506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060AE"/>
                </a:solidFill>
                <a:latin typeface="Pretendard"/>
              </a:rPr>
              <a:t>약 120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3593" y="2652857"/>
            <a:ext cx="2014057" cy="3621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Pretendard"/>
              </a:rPr>
              <a:t>액티비티(Task)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8818" y="1856232"/>
            <a:ext cx="2014057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088818" y="2097633"/>
            <a:ext cx="2014057" cy="506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F37B21"/>
                </a:solidFill>
                <a:latin typeface="Pretendard"/>
              </a:rPr>
              <a:t>6종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8818" y="2652857"/>
            <a:ext cx="2014057" cy="3621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Pretendard"/>
              </a:rPr>
              <a:t>사용된 BPMN 요소 종류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04044" y="1856232"/>
            <a:ext cx="2014057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04044" y="2097633"/>
            <a:ext cx="2014057" cy="506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D83A3A"/>
                </a:solidFill>
                <a:latin typeface="Pretendard"/>
              </a:rPr>
              <a:t>0개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4044" y="2652857"/>
            <a:ext cx="2014057" cy="3621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Pretendard"/>
              </a:rPr>
              <a:t>프로세스 변수 선언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19269" y="1856232"/>
            <a:ext cx="2014057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519269" y="2097633"/>
            <a:ext cx="2014057" cy="506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D83A3A"/>
                </a:solidFill>
                <a:latin typeface="Pretendard"/>
              </a:rPr>
              <a:t>0개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9269" y="2652857"/>
            <a:ext cx="2014057" cy="3621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Pretendard"/>
              </a:rPr>
              <a:t>이벤트·자동화 Task 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2644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0A2A53"/>
                </a:solidFill>
                <a:latin typeface="Pretendard"/>
              </a:rPr>
              <a:t>도면에 한 번도 등장하지 않은 요소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611880"/>
            <a:ext cx="2595295" cy="475488"/>
          </a:xfrm>
          <a:prstGeom prst="roundRect">
            <a:avLst>
              <a:gd name="adj" fmla="val 9000"/>
            </a:avLst>
          </a:prstGeom>
          <a:solidFill>
            <a:srgbClr val="FAF0F0"/>
          </a:solidFill>
          <a:ln w="13970">
            <a:solidFill>
              <a:srgbClr val="F0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86384" y="3694176"/>
            <a:ext cx="23392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D83A3A"/>
                </a:solidFill>
                <a:latin typeface="Pretendard"/>
              </a:rPr>
              <a:t>✕  Parallel / Inclusive / Event-based Gateway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18255" y="3611880"/>
            <a:ext cx="2595295" cy="475488"/>
          </a:xfrm>
          <a:prstGeom prst="roundRect">
            <a:avLst>
              <a:gd name="adj" fmla="val 9000"/>
            </a:avLst>
          </a:prstGeom>
          <a:solidFill>
            <a:srgbClr val="FAF0F0"/>
          </a:solidFill>
          <a:ln w="13970">
            <a:solidFill>
              <a:srgbClr val="F0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546271" y="3694176"/>
            <a:ext cx="23392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D83A3A"/>
                </a:solidFill>
                <a:latin typeface="Pretendard"/>
              </a:rPr>
              <a:t>✕  Boundary Event (Timer · Error · Message · Signal)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8143" y="3611880"/>
            <a:ext cx="2595295" cy="475488"/>
          </a:xfrm>
          <a:prstGeom prst="roundRect">
            <a:avLst>
              <a:gd name="adj" fmla="val 9000"/>
            </a:avLst>
          </a:prstGeom>
          <a:solidFill>
            <a:srgbClr val="FAF0F0"/>
          </a:solidFill>
          <a:ln w="13970">
            <a:solidFill>
              <a:srgbClr val="F0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06159" y="3694176"/>
            <a:ext cx="23392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D83A3A"/>
                </a:solidFill>
                <a:latin typeface="Pretendard"/>
              </a:rPr>
              <a:t>✕  Intermediate Catch / Throw Event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38031" y="3611880"/>
            <a:ext cx="2595295" cy="475488"/>
          </a:xfrm>
          <a:prstGeom prst="roundRect">
            <a:avLst>
              <a:gd name="adj" fmla="val 9000"/>
            </a:avLst>
          </a:prstGeom>
          <a:solidFill>
            <a:srgbClr val="FAF0F0"/>
          </a:solidFill>
          <a:ln w="13970">
            <a:solidFill>
              <a:srgbClr val="F0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066047" y="3694176"/>
            <a:ext cx="23392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D83A3A"/>
                </a:solidFill>
                <a:latin typeface="Pretendard"/>
              </a:rPr>
              <a:t>✕  SubProcess · Transaction · Event SubProcess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160520"/>
            <a:ext cx="2595295" cy="475488"/>
          </a:xfrm>
          <a:prstGeom prst="roundRect">
            <a:avLst>
              <a:gd name="adj" fmla="val 9000"/>
            </a:avLst>
          </a:prstGeom>
          <a:solidFill>
            <a:srgbClr val="FAF0F0"/>
          </a:solidFill>
          <a:ln w="13970">
            <a:solidFill>
              <a:srgbClr val="F0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86384" y="4242816"/>
            <a:ext cx="23392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D83A3A"/>
                </a:solidFill>
                <a:latin typeface="Pretendard"/>
              </a:rPr>
              <a:t>✕  Multi-Instance 마커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18255" y="4160520"/>
            <a:ext cx="2595295" cy="475488"/>
          </a:xfrm>
          <a:prstGeom prst="roundRect">
            <a:avLst>
              <a:gd name="adj" fmla="val 9000"/>
            </a:avLst>
          </a:prstGeom>
          <a:solidFill>
            <a:srgbClr val="FAF0F0"/>
          </a:solidFill>
          <a:ln w="13970">
            <a:solidFill>
              <a:srgbClr val="F0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546271" y="4242816"/>
            <a:ext cx="23392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D83A3A"/>
                </a:solidFill>
                <a:latin typeface="Pretendard"/>
              </a:rPr>
              <a:t>✕  Service / Send / Receive / Script / Business Rule Task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8143" y="4160520"/>
            <a:ext cx="2595295" cy="475488"/>
          </a:xfrm>
          <a:prstGeom prst="roundRect">
            <a:avLst>
              <a:gd name="adj" fmla="val 9000"/>
            </a:avLst>
          </a:prstGeom>
          <a:solidFill>
            <a:srgbClr val="FAF0F0"/>
          </a:solidFill>
          <a:ln w="13970">
            <a:solidFill>
              <a:srgbClr val="F0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306159" y="4242816"/>
            <a:ext cx="23392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D83A3A"/>
                </a:solidFill>
                <a:latin typeface="Pretendard"/>
              </a:rPr>
              <a:t>✕  Message Flow · Data Object · Data Store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38031" y="4160520"/>
            <a:ext cx="2595295" cy="475488"/>
          </a:xfrm>
          <a:prstGeom prst="roundRect">
            <a:avLst>
              <a:gd name="adj" fmla="val 9000"/>
            </a:avLst>
          </a:prstGeom>
          <a:solidFill>
            <a:srgbClr val="FAF0F0"/>
          </a:solidFill>
          <a:ln w="13970">
            <a:solidFill>
              <a:srgbClr val="F0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066047" y="4242816"/>
            <a:ext cx="23392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D83A3A"/>
                </a:solidFill>
                <a:latin typeface="Pretendard"/>
              </a:rPr>
              <a:t>✕  게이트웨이 조건식 (Y/N 이름만 존재)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800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0A2A53"/>
                </a:solidFill>
                <a:latin typeface="Pretendard"/>
              </a:rPr>
              <a:t>결론 — To-Be 로 가기 위한 4가지 정비 (전부 모델링 작업, 코드 개발 아님)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111496"/>
            <a:ext cx="2581579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859536" y="5239512"/>
            <a:ext cx="274320" cy="27432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5295" y="5239512"/>
            <a:ext cx="18134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0A2A53"/>
                </a:solidFill>
                <a:latin typeface="Pretendard"/>
              </a:rPr>
              <a:t>프로세스 변수 선언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" y="5605272"/>
            <a:ext cx="217924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여신번호 · 고객번호 · 금액 · 판정결과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22827" y="5111496"/>
            <a:ext cx="2581579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3623995" y="5239512"/>
            <a:ext cx="274320" cy="27432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89755" y="5239512"/>
            <a:ext cx="18134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0A2A53"/>
                </a:solidFill>
                <a:latin typeface="Pretendard"/>
              </a:rPr>
              <a:t>게이트웨이 조건식 부여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23995" y="5605272"/>
            <a:ext cx="217924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Y/N 이름 → 실제 조건식 + 기본 플로우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87287" y="5111496"/>
            <a:ext cx="2581579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6388455" y="5239512"/>
            <a:ext cx="274320" cy="27432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54215" y="5239512"/>
            <a:ext cx="18134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0A2A53"/>
                </a:solidFill>
                <a:latin typeface="Pretendard"/>
              </a:rPr>
              <a:t>Task 타입 재지정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88455" y="5605272"/>
            <a:ext cx="217924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UserTask → SQL · RPA · DMN · Send / Receive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51747" y="5111496"/>
            <a:ext cx="2581579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9152915" y="5239512"/>
            <a:ext cx="274320" cy="27432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18675" y="5239512"/>
            <a:ext cx="18134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0A2A53"/>
                </a:solidFill>
                <a:latin typeface="Pretendard"/>
              </a:rPr>
              <a:t>계층 구조 도입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52915" y="5605272"/>
            <a:ext cx="217924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보상 범위 · 반복 단위를 SubProcess 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899855" y="-1737360"/>
            <a:ext cx="4937760" cy="4937760"/>
          </a:xfrm>
          <a:prstGeom prst="ellipse">
            <a:avLst/>
          </a:prstGeom>
          <a:solidFill>
            <a:srgbClr val="103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80015" y="3108960"/>
            <a:ext cx="3840480" cy="3840480"/>
          </a:xfrm>
          <a:prstGeom prst="ellipse">
            <a:avLst/>
          </a:prstGeom>
          <a:solidFill>
            <a:srgbClr val="0D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57200"/>
            <a:ext cx="310164" cy="29260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72" b="1">
                <a:solidFill>
                  <a:srgbClr val="0060AE"/>
                </a:solidFill>
                <a:latin typeface="Pretendard"/>
              </a:rPr>
              <a:t>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201" y="48646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12" b="1">
                <a:solidFill>
                  <a:srgbClr val="FFFFFF"/>
                </a:solidFill>
                <a:latin typeface="Pretendard"/>
              </a:rPr>
              <a:t>수협은행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0A0D2"/>
                </a:solidFill>
                <a:latin typeface="Pretendard"/>
              </a:rPr>
              <a:t>PART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86000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</a:rPr>
              <a:t>BPM 이 바꾸는 다섯 가지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3310128"/>
            <a:ext cx="1463040" cy="0"/>
          </a:xfrm>
          <a:prstGeom prst="line">
            <a:avLst/>
          </a:prstGeom>
          <a:ln w="38100">
            <a:solidFill>
              <a:srgbClr val="00A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3493008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B9D3E9"/>
                </a:solidFill>
                <a:latin typeface="Pretendard"/>
              </a:rPr>
              <a:t>BPM 은 새 시스템을 하나 더 만드는 일이 아닙니다.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B9D3E9"/>
                </a:solidFill>
                <a:latin typeface="Pretendard"/>
              </a:rPr>
              <a:t>이미 있는 시스템들 «위에» 업무의 흐름을 얹는 일입니다.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238244"/>
            <a:ext cx="82296" cy="82296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4223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5E6F4"/>
                </a:solidFill>
                <a:latin typeface="Pretendard"/>
              </a:rPr>
              <a:t>UI/UX — 찾아가는 업무에서 찾아오는 업무로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" y="4604004"/>
            <a:ext cx="82296" cy="82296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0799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5E6F4"/>
                </a:solidFill>
                <a:latin typeface="Pretendard"/>
              </a:rPr>
              <a:t>준수율 — 그린 대로 실행되고, 그대로 측정된다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" y="4969764"/>
            <a:ext cx="82296" cy="82296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7375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5E6F4"/>
                </a:solidFill>
                <a:latin typeface="Pretendard"/>
              </a:rPr>
              <a:t>변경 속도 — 그리면 즉시 조직 전체에 반영된다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" y="5335524"/>
            <a:ext cx="82296" cy="82296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3951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5E6F4"/>
                </a:solidFill>
                <a:latin typeface="Pretendard"/>
              </a:rPr>
              <a:t>자동화 — RPA · SQL Task 로 틈새를 메운다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" y="5701284"/>
            <a:ext cx="82296" cy="82296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0527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5E6F4"/>
                </a:solidFill>
                <a:latin typeface="Pretendard"/>
              </a:rPr>
              <a:t>컴플라이언스 — DMN 규칙 외부화와 설명 가능성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C81A6"/>
                </a:solidFill>
                <a:latin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708477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60AE"/>
                </a:solidFill>
                <a:latin typeface="Pretendard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기록의 시스템 위에 «실행의 시스템» 을 얹습니다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계정계를 교체하지 않습니다. BPM 은 기존 시스템을 호출하고 조립하는 오케스트레이션 계층입니다.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37944"/>
            <a:ext cx="10874959" cy="786384"/>
          </a:xfrm>
          <a:prstGeom prst="roundRect">
            <a:avLst>
              <a:gd name="adj" fmla="val 5000"/>
            </a:avLst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87552" y="1965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A0D2"/>
                </a:solidFill>
                <a:latin typeface="Pretendard"/>
              </a:rPr>
              <a:t>사용자 계층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4607" y="1965960"/>
            <a:ext cx="1224015" cy="420624"/>
          </a:xfrm>
          <a:prstGeom prst="roundRect">
            <a:avLst>
              <a:gd name="adj" fmla="val 10000"/>
            </a:avLst>
          </a:prstGeom>
          <a:solidFill>
            <a:srgbClr val="144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864607" y="2075688"/>
            <a:ext cx="1224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</a:rPr>
              <a:t>영업점 담당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8351" y="1965960"/>
            <a:ext cx="1224015" cy="420624"/>
          </a:xfrm>
          <a:prstGeom prst="roundRect">
            <a:avLst>
              <a:gd name="adj" fmla="val 10000"/>
            </a:avLst>
          </a:prstGeom>
          <a:solidFill>
            <a:srgbClr val="144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98351" y="2075688"/>
            <a:ext cx="1224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</a:rPr>
              <a:t>지점장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32095" y="1965960"/>
            <a:ext cx="1224015" cy="420624"/>
          </a:xfrm>
          <a:prstGeom prst="roundRect">
            <a:avLst>
              <a:gd name="adj" fmla="val 10000"/>
            </a:avLst>
          </a:prstGeom>
          <a:solidFill>
            <a:srgbClr val="144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532095" y="2075688"/>
            <a:ext cx="1224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</a:rPr>
              <a:t>본부 심사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5839" y="1965960"/>
            <a:ext cx="1224015" cy="420624"/>
          </a:xfrm>
          <a:prstGeom prst="roundRect">
            <a:avLst>
              <a:gd name="adj" fmla="val 10000"/>
            </a:avLst>
          </a:prstGeom>
          <a:solidFill>
            <a:srgbClr val="144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865839" y="2075688"/>
            <a:ext cx="1224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</a:rPr>
              <a:t>심사위원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9583" y="1965960"/>
            <a:ext cx="1224015" cy="420624"/>
          </a:xfrm>
          <a:prstGeom prst="roundRect">
            <a:avLst>
              <a:gd name="adj" fmla="val 10000"/>
            </a:avLst>
          </a:prstGeom>
          <a:solidFill>
            <a:srgbClr val="144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199583" y="2075688"/>
            <a:ext cx="1224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</a:rPr>
              <a:t>고객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788920"/>
            <a:ext cx="10874959" cy="1572768"/>
          </a:xfrm>
          <a:prstGeom prst="roundRect">
            <a:avLst>
              <a:gd name="adj" fmla="val 5000"/>
            </a:avLst>
          </a:prstGeom>
          <a:solidFill>
            <a:srgbClr val="E7F4FB"/>
          </a:solidFill>
          <a:ln w="13970">
            <a:solidFill>
              <a:srgbClr val="00A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87552" y="293522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A2A53"/>
                </a:solidFill>
                <a:latin typeface="Pretendard"/>
              </a:rPr>
              <a:t>uEngine BPM  —  실행의 시스템 (System of Process)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" y="3355848"/>
            <a:ext cx="1926275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5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115568" y="3483863"/>
            <a:ext cx="1670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0060AE"/>
                </a:solidFill>
                <a:latin typeface="Pretendard"/>
              </a:rPr>
              <a:t>워크리스트 · 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758183"/>
            <a:ext cx="16702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할 일이 찾아온다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60131" y="3355848"/>
            <a:ext cx="1926275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5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188147" y="3483863"/>
            <a:ext cx="1670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0060AE"/>
                </a:solidFill>
                <a:latin typeface="Pretendard"/>
              </a:rPr>
              <a:t>프로세스 엔진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88147" y="3758183"/>
            <a:ext cx="16702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순서 · 담당 · 기한 강제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32710" y="3355848"/>
            <a:ext cx="1926275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5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260726" y="3483863"/>
            <a:ext cx="1670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0060AE"/>
                </a:solidFill>
                <a:latin typeface="Pretendard"/>
              </a:rPr>
              <a:t>DMN 룰 엔진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60726" y="3758183"/>
            <a:ext cx="16702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규칙 외부화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05289" y="3355848"/>
            <a:ext cx="1926275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5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333305" y="3483863"/>
            <a:ext cx="1670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0060AE"/>
                </a:solidFill>
                <a:latin typeface="Pretendard"/>
              </a:rPr>
              <a:t>이벤트 · 타이머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3305" y="3758183"/>
            <a:ext cx="16702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SLA · 예외 · 되돌림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77868" y="3355848"/>
            <a:ext cx="1926275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5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405884" y="3483863"/>
            <a:ext cx="1670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0060AE"/>
                </a:solidFill>
                <a:latin typeface="Pretendard"/>
              </a:rPr>
              <a:t>모니터링 · 통계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5884" y="3758183"/>
            <a:ext cx="16702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준수율 · 병목 측정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654296"/>
            <a:ext cx="10874959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87552" y="4800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기록의 시스템 (System of Record) — 그대로 유지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7552" y="5184648"/>
            <a:ext cx="1596085" cy="493776"/>
          </a:xfrm>
          <a:prstGeom prst="roundRect">
            <a:avLst>
              <a:gd name="adj" fmla="val 9000"/>
            </a:avLst>
          </a:prstGeom>
          <a:solidFill>
            <a:srgbClr val="EFF3F7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060704" y="5294376"/>
            <a:ext cx="144978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계정계 · 여신원장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11653" y="5184648"/>
            <a:ext cx="1596085" cy="493776"/>
          </a:xfrm>
          <a:prstGeom prst="roundRect">
            <a:avLst>
              <a:gd name="adj" fmla="val 9000"/>
            </a:avLst>
          </a:prstGeom>
          <a:solidFill>
            <a:srgbClr val="EFF3F7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784805" y="5294376"/>
            <a:ext cx="144978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외환 · SWIFT 게이트웨이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35754" y="5184648"/>
            <a:ext cx="1596085" cy="493776"/>
          </a:xfrm>
          <a:prstGeom prst="roundRect">
            <a:avLst>
              <a:gd name="adj" fmla="val 9000"/>
            </a:avLst>
          </a:prstGeom>
          <a:solidFill>
            <a:srgbClr val="EFF3F7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508906" y="5294376"/>
            <a:ext cx="144978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카드 기간계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59855" y="5184648"/>
            <a:ext cx="1596085" cy="493776"/>
          </a:xfrm>
          <a:prstGeom prst="roundRect">
            <a:avLst>
              <a:gd name="adj" fmla="val 9000"/>
            </a:avLst>
          </a:prstGeom>
          <a:solidFill>
            <a:srgbClr val="EFF3F7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233007" y="5294376"/>
            <a:ext cx="144978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정보계 · DW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83956" y="5184648"/>
            <a:ext cx="1596085" cy="493776"/>
          </a:xfrm>
          <a:prstGeom prst="roundRect">
            <a:avLst>
              <a:gd name="adj" fmla="val 9000"/>
            </a:avLst>
          </a:prstGeom>
          <a:solidFill>
            <a:srgbClr val="EFF3F7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957108" y="5294376"/>
            <a:ext cx="144978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보증기관 · 등기소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08058" y="5184648"/>
            <a:ext cx="1596085" cy="493776"/>
          </a:xfrm>
          <a:prstGeom prst="roundRect">
            <a:avLst>
              <a:gd name="adj" fmla="val 9000"/>
            </a:avLst>
          </a:prstGeom>
          <a:solidFill>
            <a:srgbClr val="EFF3F7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681210" y="5294376"/>
            <a:ext cx="144978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RPA 봇</a:t>
            </a:r>
          </a:p>
        </p:txBody>
      </p:sp>
      <p:sp>
        <p:nvSpPr>
          <p:cNvPr id="53" name="Up Arrow 52"/>
          <p:cNvSpPr/>
          <p:nvPr/>
        </p:nvSpPr>
        <p:spPr>
          <a:xfrm>
            <a:off x="2670048" y="2642615"/>
            <a:ext cx="182880" cy="128016"/>
          </a:xfrm>
          <a:prstGeom prst="upArrow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own Arrow 53"/>
          <p:cNvSpPr/>
          <p:nvPr/>
        </p:nvSpPr>
        <p:spPr>
          <a:xfrm>
            <a:off x="3127248" y="4398264"/>
            <a:ext cx="182880" cy="219456"/>
          </a:xfrm>
          <a:prstGeom prst="downArrow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Up Arrow 54"/>
          <p:cNvSpPr/>
          <p:nvPr/>
        </p:nvSpPr>
        <p:spPr>
          <a:xfrm>
            <a:off x="6510528" y="2642615"/>
            <a:ext cx="182880" cy="128016"/>
          </a:xfrm>
          <a:prstGeom prst="upArrow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own Arrow 55"/>
          <p:cNvSpPr/>
          <p:nvPr/>
        </p:nvSpPr>
        <p:spPr>
          <a:xfrm>
            <a:off x="6967728" y="4398264"/>
            <a:ext cx="182880" cy="219456"/>
          </a:xfrm>
          <a:prstGeom prst="downArrow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Up Arrow 56"/>
          <p:cNvSpPr/>
          <p:nvPr/>
        </p:nvSpPr>
        <p:spPr>
          <a:xfrm>
            <a:off x="10351008" y="2642615"/>
            <a:ext cx="182880" cy="128016"/>
          </a:xfrm>
          <a:prstGeom prst="upArrow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own Arrow 57"/>
          <p:cNvSpPr/>
          <p:nvPr/>
        </p:nvSpPr>
        <p:spPr>
          <a:xfrm>
            <a:off x="10808208" y="4398264"/>
            <a:ext cx="182880" cy="219456"/>
          </a:xfrm>
          <a:prstGeom prst="downArrow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783915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B3A4"/>
                </a:solidFill>
                <a:latin typeface="Pretendard"/>
              </a:rPr>
              <a:t>변화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UI / UX — 업무를 찾아가지 않고, 업무가 찾아옵니다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메뉴를 «아는 사람» 만 일할 수 있는 구조에서, 화면이 다음 할 일을 안내하는 구조로 바뀝니다.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56232"/>
            <a:ext cx="2554147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856232"/>
            <a:ext cx="2554147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2130552"/>
            <a:ext cx="2115235" cy="932688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77824" y="2130552"/>
            <a:ext cx="2115235" cy="201168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024128" y="2441448"/>
            <a:ext cx="1712899" cy="100584"/>
          </a:xfrm>
          <a:prstGeom prst="rect">
            <a:avLst/>
          </a:prstGeom>
          <a:solidFill>
            <a:srgbClr val="D5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2624328"/>
            <a:ext cx="1712899" cy="100584"/>
          </a:xfrm>
          <a:prstGeom prst="rect">
            <a:avLst/>
          </a:prstGeom>
          <a:solidFill>
            <a:srgbClr val="D5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24128" y="2807208"/>
            <a:ext cx="1712899" cy="100584"/>
          </a:xfrm>
          <a:prstGeom prst="rect">
            <a:avLst/>
          </a:prstGeom>
          <a:solidFill>
            <a:srgbClr val="D5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2371267" y="2441448"/>
            <a:ext cx="201168" cy="100584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77824" y="3191256"/>
            <a:ext cx="21152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A2A53"/>
                </a:solidFill>
                <a:latin typeface="Pretendard"/>
              </a:rPr>
              <a:t>내 할 일 (Worklist)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3502152"/>
            <a:ext cx="21152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0060AE"/>
                </a:solidFill>
                <a:latin typeface="Pretendard"/>
              </a:rPr>
              <a:t>지금 내가 처리할 건만 기한순으로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" y="3986784"/>
            <a:ext cx="64008" cy="64008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04488"/>
            <a:ext cx="19506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역할·조직도 기반 자동 배정</a:t>
            </a:r>
          </a:p>
        </p:txBody>
      </p:sp>
      <p:sp>
        <p:nvSpPr>
          <p:cNvPr id="22" name="Oval 21"/>
          <p:cNvSpPr/>
          <p:nvPr/>
        </p:nvSpPr>
        <p:spPr>
          <a:xfrm>
            <a:off x="896112" y="4270248"/>
            <a:ext cx="64008" cy="64008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4187952"/>
            <a:ext cx="19506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기한 임박 · 초과 색상 구분</a:t>
            </a:r>
          </a:p>
        </p:txBody>
      </p:sp>
      <p:sp>
        <p:nvSpPr>
          <p:cNvPr id="24" name="Oval 23"/>
          <p:cNvSpPr/>
          <p:nvPr/>
        </p:nvSpPr>
        <p:spPr>
          <a:xfrm>
            <a:off x="896112" y="4553712"/>
            <a:ext cx="64008" cy="64008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4471416"/>
            <a:ext cx="19506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위임 · 대결 · 재배정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31971" y="1856232"/>
            <a:ext cx="2554147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3431971" y="1856232"/>
            <a:ext cx="2554147" cy="68580"/>
          </a:xfrm>
          <a:prstGeom prst="rect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51427" y="2130552"/>
            <a:ext cx="2115235" cy="932688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651427" y="2130552"/>
            <a:ext cx="2115235" cy="201168"/>
          </a:xfrm>
          <a:prstGeom prst="rect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3797731" y="2441448"/>
            <a:ext cx="1712899" cy="100584"/>
          </a:xfrm>
          <a:prstGeom prst="rect">
            <a:avLst/>
          </a:prstGeom>
          <a:solidFill>
            <a:srgbClr val="D5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797731" y="2624328"/>
            <a:ext cx="1712899" cy="100584"/>
          </a:xfrm>
          <a:prstGeom prst="rect">
            <a:avLst/>
          </a:prstGeom>
          <a:solidFill>
            <a:srgbClr val="D5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797731" y="2807208"/>
            <a:ext cx="1712899" cy="100584"/>
          </a:xfrm>
          <a:prstGeom prst="rect">
            <a:avLst/>
          </a:prstGeom>
          <a:solidFill>
            <a:srgbClr val="D5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144871" y="2441448"/>
            <a:ext cx="201168" cy="100584"/>
          </a:xfrm>
          <a:prstGeom prst="rect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651427" y="3191256"/>
            <a:ext cx="21152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A2A53"/>
                </a:solidFill>
                <a:latin typeface="Pretendard"/>
              </a:rPr>
              <a:t>업무 화면 (Form)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1427" y="3502152"/>
            <a:ext cx="21152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00A0D2"/>
                </a:solidFill>
                <a:latin typeface="Pretendard"/>
              </a:rPr>
              <a:t>단계마다 필요한 항목만 보이는 폼</a:t>
            </a:r>
          </a:p>
        </p:txBody>
      </p:sp>
      <p:sp>
        <p:nvSpPr>
          <p:cNvPr id="36" name="Oval 35"/>
          <p:cNvSpPr/>
          <p:nvPr/>
        </p:nvSpPr>
        <p:spPr>
          <a:xfrm>
            <a:off x="3669715" y="3986784"/>
            <a:ext cx="64008" cy="64008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34307" y="3904488"/>
            <a:ext cx="19506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이전 단계 데이터 자동 채움</a:t>
            </a:r>
          </a:p>
        </p:txBody>
      </p:sp>
      <p:sp>
        <p:nvSpPr>
          <p:cNvPr id="38" name="Oval 37"/>
          <p:cNvSpPr/>
          <p:nvPr/>
        </p:nvSpPr>
        <p:spPr>
          <a:xfrm>
            <a:off x="3669715" y="4270248"/>
            <a:ext cx="64008" cy="64008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34307" y="4187952"/>
            <a:ext cx="19506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체크포인트 · 첨부 · 결재의견</a:t>
            </a:r>
          </a:p>
        </p:txBody>
      </p:sp>
      <p:sp>
        <p:nvSpPr>
          <p:cNvPr id="40" name="Oval 39"/>
          <p:cNvSpPr/>
          <p:nvPr/>
        </p:nvSpPr>
        <p:spPr>
          <a:xfrm>
            <a:off x="3669715" y="4553712"/>
            <a:ext cx="64008" cy="64008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34307" y="4471416"/>
            <a:ext cx="19506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권한별 읽기/쓰기 제어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05575" y="1856232"/>
            <a:ext cx="2554147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6205575" y="1856232"/>
            <a:ext cx="2554147" cy="6858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25031" y="2130552"/>
            <a:ext cx="2115235" cy="932688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6425031" y="2130552"/>
            <a:ext cx="2115235" cy="20116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6571335" y="2441448"/>
            <a:ext cx="1712899" cy="100584"/>
          </a:xfrm>
          <a:prstGeom prst="rect">
            <a:avLst/>
          </a:prstGeom>
          <a:solidFill>
            <a:srgbClr val="D5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6571335" y="2624328"/>
            <a:ext cx="1712899" cy="100584"/>
          </a:xfrm>
          <a:prstGeom prst="rect">
            <a:avLst/>
          </a:prstGeom>
          <a:solidFill>
            <a:srgbClr val="D5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6571335" y="2807208"/>
            <a:ext cx="1712899" cy="100584"/>
          </a:xfrm>
          <a:prstGeom prst="rect">
            <a:avLst/>
          </a:prstGeom>
          <a:solidFill>
            <a:srgbClr val="D5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918475" y="2441448"/>
            <a:ext cx="201168" cy="100584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425031" y="3191256"/>
            <a:ext cx="21152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A2A53"/>
                </a:solidFill>
                <a:latin typeface="Pretendard"/>
              </a:rPr>
              <a:t>진행 현황 (Tracking)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25031" y="3502152"/>
            <a:ext cx="21152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00B3A4"/>
                </a:solidFill>
                <a:latin typeface="Pretendard"/>
              </a:rPr>
              <a:t>이 건이 지금 어디에 있는지 한 화면</a:t>
            </a:r>
          </a:p>
        </p:txBody>
      </p:sp>
      <p:sp>
        <p:nvSpPr>
          <p:cNvPr id="52" name="Oval 51"/>
          <p:cNvSpPr/>
          <p:nvPr/>
        </p:nvSpPr>
        <p:spPr>
          <a:xfrm>
            <a:off x="6443319" y="3986784"/>
            <a:ext cx="64008" cy="64008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7911" y="3904488"/>
            <a:ext cx="19506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도면 위에 현재 위치 표시</a:t>
            </a:r>
          </a:p>
        </p:txBody>
      </p:sp>
      <p:sp>
        <p:nvSpPr>
          <p:cNvPr id="54" name="Oval 53"/>
          <p:cNvSpPr/>
          <p:nvPr/>
        </p:nvSpPr>
        <p:spPr>
          <a:xfrm>
            <a:off x="6443319" y="4270248"/>
            <a:ext cx="64008" cy="64008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07911" y="4187952"/>
            <a:ext cx="19506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누가 · 언제 · 무엇을 했는지</a:t>
            </a:r>
          </a:p>
        </p:txBody>
      </p:sp>
      <p:sp>
        <p:nvSpPr>
          <p:cNvPr id="56" name="Oval 55"/>
          <p:cNvSpPr/>
          <p:nvPr/>
        </p:nvSpPr>
        <p:spPr>
          <a:xfrm>
            <a:off x="6443319" y="4553712"/>
            <a:ext cx="64008" cy="64008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07911" y="4471416"/>
            <a:ext cx="19506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고객 문의에 즉시 답변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79179" y="1856232"/>
            <a:ext cx="2554147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8979179" y="1856232"/>
            <a:ext cx="2554147" cy="68580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198635" y="2130552"/>
            <a:ext cx="2115235" cy="932688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9198635" y="2130552"/>
            <a:ext cx="2115235" cy="201168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9344939" y="2441448"/>
            <a:ext cx="1712899" cy="100584"/>
          </a:xfrm>
          <a:prstGeom prst="rect">
            <a:avLst/>
          </a:prstGeom>
          <a:solidFill>
            <a:srgbClr val="D5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9344939" y="2624328"/>
            <a:ext cx="1712899" cy="100584"/>
          </a:xfrm>
          <a:prstGeom prst="rect">
            <a:avLst/>
          </a:prstGeom>
          <a:solidFill>
            <a:srgbClr val="D5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9344939" y="2807208"/>
            <a:ext cx="1712899" cy="100584"/>
          </a:xfrm>
          <a:prstGeom prst="rect">
            <a:avLst/>
          </a:prstGeom>
          <a:solidFill>
            <a:srgbClr val="D5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10692079" y="2441448"/>
            <a:ext cx="201168" cy="100584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198635" y="3191256"/>
            <a:ext cx="21152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A2A53"/>
                </a:solidFill>
                <a:latin typeface="Pretendard"/>
              </a:rPr>
              <a:t>관리자 모니터 (Monitor)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98635" y="3502152"/>
            <a:ext cx="21152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0A2A53"/>
                </a:solidFill>
                <a:latin typeface="Pretendard"/>
              </a:rPr>
              <a:t>지연·병목·부하를 실시간으로</a:t>
            </a:r>
          </a:p>
        </p:txBody>
      </p:sp>
      <p:sp>
        <p:nvSpPr>
          <p:cNvPr id="68" name="Oval 67"/>
          <p:cNvSpPr/>
          <p:nvPr/>
        </p:nvSpPr>
        <p:spPr>
          <a:xfrm>
            <a:off x="9216923" y="3986784"/>
            <a:ext cx="64008" cy="64008"/>
          </a:xfrm>
          <a:prstGeom prst="ellipse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81515" y="3904488"/>
            <a:ext cx="19506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단계별 평균 처리시간</a:t>
            </a:r>
          </a:p>
        </p:txBody>
      </p:sp>
      <p:sp>
        <p:nvSpPr>
          <p:cNvPr id="70" name="Oval 69"/>
          <p:cNvSpPr/>
          <p:nvPr/>
        </p:nvSpPr>
        <p:spPr>
          <a:xfrm>
            <a:off x="9216923" y="4270248"/>
            <a:ext cx="64008" cy="64008"/>
          </a:xfrm>
          <a:prstGeom prst="ellipse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381515" y="4187952"/>
            <a:ext cx="19506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적체 건수 · 담당자 부하</a:t>
            </a:r>
          </a:p>
        </p:txBody>
      </p:sp>
      <p:sp>
        <p:nvSpPr>
          <p:cNvPr id="72" name="Oval 71"/>
          <p:cNvSpPr/>
          <p:nvPr/>
        </p:nvSpPr>
        <p:spPr>
          <a:xfrm>
            <a:off x="9216923" y="4553712"/>
            <a:ext cx="64008" cy="64008"/>
          </a:xfrm>
          <a:prstGeom prst="ellipse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81515" y="4471416"/>
            <a:ext cx="19506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SLA 초과 자동 상신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58368" y="5056632"/>
            <a:ext cx="10874959" cy="932688"/>
          </a:xfrm>
          <a:prstGeom prst="roundRect">
            <a:avLst>
              <a:gd name="adj" fmla="val 5000"/>
            </a:avLst>
          </a:prstGeom>
          <a:solidFill>
            <a:srgbClr val="EFFAF8"/>
          </a:solidFill>
          <a:ln w="13970">
            <a:solidFill>
              <a:srgbClr val="BF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987552" y="51846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0B3A4"/>
                </a:solidFill>
                <a:latin typeface="Pretendard"/>
              </a:rPr>
              <a:t>현업이 체감하는 변화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24528" y="5477256"/>
            <a:ext cx="169461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· 메뉴 탐색 6~7단계 → 1클릭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65443" y="5477256"/>
            <a:ext cx="169461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· «내가 기억해야 할 일» → 시스템이 기억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06359" y="5477256"/>
            <a:ext cx="169461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· 신입 교육 = 메뉴 암기 → 화면이 안내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47275" y="5477256"/>
            <a:ext cx="169461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· «이 건 어떻게 됐죠?» → 조회 한 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783915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B3A4"/>
                </a:solidFill>
                <a:latin typeface="Pretendard"/>
              </a:rPr>
              <a:t>변화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프로세스 준수율 — «그린 대로» 실행됩니다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도면이 곧 실행 코드입니다. 사람이 순서를 건너뛸 수 없고, 건너뛴 흔적이 남습니다.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56232"/>
            <a:ext cx="202868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59536" y="198424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386584"/>
            <a:ext cx="1626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순서 강제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660904"/>
            <a:ext cx="16263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선행 단계가 끝나야 다음 단계가 열린다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081528"/>
            <a:ext cx="16263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0060AE"/>
                </a:solidFill>
                <a:latin typeface="Pretendard"/>
              </a:rPr>
              <a:t>시퀀스 플로우 · 토큰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69935" y="1856232"/>
            <a:ext cx="202868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071103" y="198424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1103" y="2386584"/>
            <a:ext cx="1626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담당 강제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1103" y="2660904"/>
            <a:ext cx="16263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권한 없는 사람의 워크리스트에 뜨지 않는다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1103" y="3081528"/>
            <a:ext cx="16263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0060AE"/>
                </a:solidFill>
                <a:latin typeface="Pretendard"/>
              </a:rPr>
              <a:t>역할 · 조직도 매핑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1503" y="1856232"/>
            <a:ext cx="202868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282671" y="198424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2671" y="2386584"/>
            <a:ext cx="1626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기한 강제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2671" y="2660904"/>
            <a:ext cx="16263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기한이 지나면 알리고, 더 지나면 상신한다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2671" y="3081528"/>
            <a:ext cx="16263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0060AE"/>
                </a:solidFill>
                <a:latin typeface="Pretendard"/>
              </a:rPr>
              <a:t>Timer Boundary · Escalation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3071" y="1856232"/>
            <a:ext cx="202868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494239" y="198424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4239" y="2386584"/>
            <a:ext cx="1626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규칙 강제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4239" y="2660904"/>
            <a:ext cx="16263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판정은 사람이 아니라 규칙표가 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4239" y="3081528"/>
            <a:ext cx="16263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0060AE"/>
                </a:solidFill>
                <a:latin typeface="Pretendard"/>
              </a:rPr>
              <a:t>DMN Business Rule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4639" y="1856232"/>
            <a:ext cx="202868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9705807" y="198424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5807" y="2386584"/>
            <a:ext cx="1626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증적 자동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05807" y="2660904"/>
            <a:ext cx="16263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누가·언제·무엇을·왜 했는지 전부 남는다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5807" y="3081528"/>
            <a:ext cx="16263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0060AE"/>
                </a:solidFill>
                <a:latin typeface="Pretendard"/>
              </a:rPr>
              <a:t>인스턴스 이력 · 판정 사유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4107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그래서 이런 질문에 «숫자로» 답할 수 있게 됩니다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3703320"/>
            <a:ext cx="10874959" cy="307055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86384" y="3703320"/>
            <a:ext cx="2937790" cy="307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관리 질문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43630" y="3703320"/>
            <a:ext cx="2060777" cy="307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AS-IS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23863" y="3703320"/>
            <a:ext cx="5218023" cy="307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BPM 도입 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" y="4010375"/>
            <a:ext cx="2937790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규정 순서대로 처리된 비율은?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43630" y="4010375"/>
            <a:ext cx="2060777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측정 불가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23863" y="4010375"/>
            <a:ext cx="5218023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프로세스 준수율 (%) — 정의 대비 실행 경로 일치율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58368" y="4010375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658368" y="4344131"/>
            <a:ext cx="10874959" cy="333756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86384" y="4344131"/>
            <a:ext cx="2937790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단계별 평균 처리시간은?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43630" y="4344131"/>
            <a:ext cx="2060777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측정 불가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23863" y="4344131"/>
            <a:ext cx="5218023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액티비티별 소요시간 · 대기시간 자동 집계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58368" y="4344131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86384" y="4677887"/>
            <a:ext cx="2937790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기한을 넘긴 건은 몇 건인가?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43630" y="4677887"/>
            <a:ext cx="2060777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사후 수기 집계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23863" y="4677887"/>
            <a:ext cx="5218023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SLA 초과 건 실시간 목록 + 자동 상신 이력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58368" y="4677887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658368" y="5011643"/>
            <a:ext cx="10874959" cy="333756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6384" y="5011643"/>
            <a:ext cx="2937790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부결 사유의 분포는?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43630" y="5011643"/>
            <a:ext cx="2060777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담당자 메모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23863" y="5011643"/>
            <a:ext cx="5218023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DMN 판정 사유(note) · 적중 규칙번호로 집계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58368" y="5011643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86384" y="5345399"/>
            <a:ext cx="2937790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병목 구간은 어디인가?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43630" y="5345399"/>
            <a:ext cx="2060777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감으로 추정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23863" y="5345399"/>
            <a:ext cx="5218023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B2A3A"/>
                </a:solidFill>
                <a:latin typeface="Pretendard"/>
              </a:rPr>
              <a:t>적체 건수 상위 액티비티 실시간 표시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58368" y="5345399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58368" y="5679155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658368" y="5833872"/>
            <a:ext cx="10874959" cy="493776"/>
          </a:xfrm>
          <a:prstGeom prst="roundRect">
            <a:avLst>
              <a:gd name="adj" fmla="val 5000"/>
            </a:avLst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024128" y="5907024"/>
            <a:ext cx="101434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retendard"/>
              </a:rPr>
              <a:t>감독 대응 · 내부통제 관점 :  «했다» 를 넘어 «했음을 시스템이 증명한다» 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783915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B3A4"/>
                </a:solidFill>
                <a:latin typeface="Pretendard"/>
              </a:rPr>
              <a:t>변화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프로세스 변경 — 그리면, 조직 전체가 즉시 바뀝니다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변경의 성격에 따라 «누가 · 얼마나 빨리» 바꿀 수 있는지가 달라집니다. 대부분은 개발 없이 끝납니다.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56232"/>
            <a:ext cx="2567863" cy="2432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856232"/>
            <a:ext cx="2567863" cy="6858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2128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0A2A53"/>
                </a:solidFill>
                <a:latin typeface="Pretendard"/>
              </a:rPr>
              <a:t>규칙만 바뀔 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" y="2404872"/>
            <a:ext cx="2128951" cy="566928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87552" y="2478024"/>
            <a:ext cx="1909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DSR 한도 40% → 30%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우대금리 0.1% 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099816"/>
            <a:ext cx="21289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B2A3A"/>
                </a:solidFill>
                <a:latin typeface="Pretendard"/>
              </a:rPr>
              <a:t>룰(DMN) 표만 수정 → 저장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" y="3575304"/>
            <a:ext cx="2128951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7824" y="3666744"/>
            <a:ext cx="21289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주체   현업 담당자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3922776"/>
            <a:ext cx="21289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B3A4"/>
                </a:solidFill>
                <a:latin typeface="Pretendard"/>
              </a:rPr>
              <a:t>반영   즉시 · 무중단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7399" y="1856232"/>
            <a:ext cx="2567863" cy="2432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427399" y="1856232"/>
            <a:ext cx="2567863" cy="68580"/>
          </a:xfrm>
          <a:prstGeom prst="rect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6855" y="2057400"/>
            <a:ext cx="2128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0A2A53"/>
                </a:solidFill>
                <a:latin typeface="Pretendard"/>
              </a:rPr>
              <a:t>흐름이 바뀔 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46855" y="2404872"/>
            <a:ext cx="2128951" cy="566928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756583" y="2478024"/>
            <a:ext cx="1909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결재 단계 추가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서류 검토 단계 분리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46855" y="3099816"/>
            <a:ext cx="21289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B2A3A"/>
                </a:solidFill>
                <a:latin typeface="Pretendard"/>
              </a:rPr>
              <a:t>모델러에서 도면 수정 → 신버전 배포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46855" y="3575304"/>
            <a:ext cx="212895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46855" y="3666744"/>
            <a:ext cx="21289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주체   프로세스 담당자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46855" y="3922776"/>
            <a:ext cx="21289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A0D2"/>
                </a:solidFill>
                <a:latin typeface="Pretendard"/>
              </a:rPr>
              <a:t>반영   당일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6431" y="1856232"/>
            <a:ext cx="2567863" cy="2432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96431" y="1856232"/>
            <a:ext cx="2567863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5887" y="2057400"/>
            <a:ext cx="2128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0A2A53"/>
                </a:solidFill>
                <a:latin typeface="Pretendard"/>
              </a:rPr>
              <a:t>연계가 바뀔 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5887" y="2404872"/>
            <a:ext cx="2128951" cy="566928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25615" y="2478024"/>
            <a:ext cx="1909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새 외부 시스템 연동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전문 규격 변경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5887" y="3099816"/>
            <a:ext cx="21289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B2A3A"/>
                </a:solidFill>
                <a:latin typeface="Pretendard"/>
              </a:rPr>
              <a:t>Send / Receive Task 속성 수정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15887" y="3575304"/>
            <a:ext cx="212895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15887" y="3666744"/>
            <a:ext cx="21289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주체   IT 담당자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5887" y="3922776"/>
            <a:ext cx="21289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60AE"/>
                </a:solidFill>
                <a:latin typeface="Pretendard"/>
              </a:rPr>
              <a:t>반영   수일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5463" y="1856232"/>
            <a:ext cx="2567863" cy="2432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8965463" y="1856232"/>
            <a:ext cx="2567863" cy="68580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4919" y="2057400"/>
            <a:ext cx="2128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0A2A53"/>
                </a:solidFill>
                <a:latin typeface="Pretendard"/>
              </a:rPr>
              <a:t>화면이 바뀔 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4919" y="2404872"/>
            <a:ext cx="2128951" cy="566928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294647" y="2478024"/>
            <a:ext cx="1909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입력 항목 추가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4919" y="3099816"/>
            <a:ext cx="21289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B2A3A"/>
                </a:solidFill>
                <a:latin typeface="Pretendard"/>
              </a:rPr>
              <a:t>폼 편집 + 변수 추가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184919" y="3575304"/>
            <a:ext cx="212895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84919" y="3666744"/>
            <a:ext cx="21289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주체   프로세스 담당자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4919" y="3922776"/>
            <a:ext cx="21289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A2A53"/>
                </a:solidFill>
                <a:latin typeface="Pretendard"/>
              </a:rPr>
              <a:t>반영   당일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45079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A2A53"/>
                </a:solidFill>
                <a:latin typeface="Pretendard"/>
              </a:rPr>
              <a:t>«한 번 바꾸면 전 조직에 동시에 적용된다» 가 BPM 의 본질입니다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4873752"/>
            <a:ext cx="10874959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658368" y="4873752"/>
            <a:ext cx="54864" cy="566928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96112" y="502920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AS-IS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47088" y="5029200"/>
            <a:ext cx="94119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B2A3A"/>
                </a:solidFill>
                <a:latin typeface="Pretendard"/>
              </a:rPr>
              <a:t>지점마다 다른 엑셀 · 매뉴얼 버전. 공문을 돌려도 실제 적용은 제각각.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532120"/>
            <a:ext cx="10874959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658368" y="5532120"/>
            <a:ext cx="54864" cy="56692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96112" y="568756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TO-BE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47088" y="5687568"/>
            <a:ext cx="94119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B2A3A"/>
                </a:solidFill>
                <a:latin typeface="Pretendard"/>
              </a:rPr>
              <a:t>새 버전을 배포하면 그 시점 이후 시작되는 모든 건에 동일 적용. 진행 중인 건은 기존 버전 유지.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783915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B3A4"/>
                </a:solidFill>
                <a:latin typeface="Pretendard"/>
              </a:rPr>
              <a:t>변화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자동화 — 남은 틈새를 «프로세스가 관리하는 자동화» 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시스템 개발 없이, 프로세스 도면 위에서 자동화 단계를 끼워 넣습니다.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56232"/>
            <a:ext cx="346649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856232"/>
            <a:ext cx="3466490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75688"/>
            <a:ext cx="295442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A2A53"/>
                </a:solidFill>
                <a:latin typeface="Pretendard"/>
              </a:rPr>
              <a:t>SQL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1448"/>
            <a:ext cx="29544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0060AE"/>
                </a:solidFill>
                <a:latin typeface="Pretendard"/>
              </a:rPr>
              <a:t>DB 조회 · 적재를 사람 없이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2839212"/>
            <a:ext cx="68580" cy="6858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2743200"/>
            <a:ext cx="273497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SQL 을 몰라도 «컬럼 매핑»만으로 INSERT/SELECT 자동 생성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3351276"/>
            <a:ext cx="68580" cy="6858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255264"/>
            <a:ext cx="273497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조회 결과 N건이 그대로 프로세스 변수 · 다음 단계 반복 수가 됨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3863340"/>
            <a:ext cx="68580" cy="6858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3767328"/>
            <a:ext cx="273497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프로세스 트랜잭션에 참여 — 실패 시 함께 롤백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" y="4375404"/>
            <a:ext cx="68580" cy="6858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279392"/>
            <a:ext cx="273497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실행된 실제 SQL 이 인스턴스 이력에 남아 감사 추적 가능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4892040"/>
            <a:ext cx="2954426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4983480"/>
            <a:ext cx="29544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>
                <a:solidFill>
                  <a:srgbClr val="0060AE"/>
                </a:solidFill>
                <a:latin typeface="Pretendard"/>
              </a:rPr>
              <a:t>수협 적용 지점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>
                <a:solidFill>
                  <a:srgbClr val="0060AE"/>
                </a:solidFill>
                <a:latin typeface="Pretendard"/>
              </a:rPr>
              <a:t>예금잔액통보 대상 계좌 추출 · 여신 예정등록 · 기록부 적재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2602" y="1856232"/>
            <a:ext cx="346649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362602" y="1856232"/>
            <a:ext cx="3466490" cy="6858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8634" y="2075688"/>
            <a:ext cx="295442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A2A53"/>
                </a:solidFill>
                <a:latin typeface="Pretendard"/>
              </a:rPr>
              <a:t>RPA Task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8634" y="2441448"/>
            <a:ext cx="29544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00B3A4"/>
                </a:solidFill>
                <a:latin typeface="Pretendard"/>
              </a:rPr>
              <a:t>외부 사이트 조회를 봇에게</a:t>
            </a:r>
          </a:p>
        </p:txBody>
      </p:sp>
      <p:sp>
        <p:nvSpPr>
          <p:cNvPr id="28" name="Oval 27"/>
          <p:cNvSpPr/>
          <p:nvPr/>
        </p:nvSpPr>
        <p:spPr>
          <a:xfrm>
            <a:off x="4636922" y="2839212"/>
            <a:ext cx="68580" cy="6858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19802" y="2743200"/>
            <a:ext cx="273497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봇에 명령을 발행하고 프로세스는 대기 — 담당자 워크리스트는 비어 있음</a:t>
            </a:r>
          </a:p>
        </p:txBody>
      </p:sp>
      <p:sp>
        <p:nvSpPr>
          <p:cNvPr id="30" name="Oval 29"/>
          <p:cNvSpPr/>
          <p:nvPr/>
        </p:nvSpPr>
        <p:spPr>
          <a:xfrm>
            <a:off x="4636922" y="3351276"/>
            <a:ext cx="68580" cy="6858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19802" y="3255264"/>
            <a:ext cx="273497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결과가 오면 시세 · 등기 항목이 변수에 자동 매핑</a:t>
            </a:r>
          </a:p>
        </p:txBody>
      </p:sp>
      <p:sp>
        <p:nvSpPr>
          <p:cNvPr id="32" name="Oval 31"/>
          <p:cNvSpPr/>
          <p:nvPr/>
        </p:nvSpPr>
        <p:spPr>
          <a:xfrm>
            <a:off x="4636922" y="3863340"/>
            <a:ext cx="68580" cy="6858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19802" y="3767328"/>
            <a:ext cx="273497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10분 무응답이면 Timer 가 발화해 «수동 조회» 경로로 우회</a:t>
            </a:r>
          </a:p>
        </p:txBody>
      </p:sp>
      <p:sp>
        <p:nvSpPr>
          <p:cNvPr id="34" name="Oval 33"/>
          <p:cNvSpPr/>
          <p:nvPr/>
        </p:nvSpPr>
        <p:spPr>
          <a:xfrm>
            <a:off x="4636922" y="4375404"/>
            <a:ext cx="68580" cy="6858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9802" y="4279392"/>
            <a:ext cx="273497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3회 실패 시 사람에게 폴백 — 봇 장애가 업무 중단이 되지 않음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618634" y="4892040"/>
            <a:ext cx="2954426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618634" y="4983480"/>
            <a:ext cx="29544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>
                <a:solidFill>
                  <a:srgbClr val="0060AE"/>
                </a:solidFill>
                <a:latin typeface="Pretendard"/>
              </a:rPr>
              <a:t>수협 적용 지점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>
                <a:solidFill>
                  <a:srgbClr val="0060AE"/>
                </a:solidFill>
                <a:latin typeface="Pretendard"/>
              </a:rPr>
              <a:t>KB/국토부 시세조회 · 인터넷등기소 · 공공마이데이터 · 진위확인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66836" y="1856232"/>
            <a:ext cx="346649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066836" y="1856232"/>
            <a:ext cx="3466490" cy="68580"/>
          </a:xfrm>
          <a:prstGeom prst="rect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2868" y="2075688"/>
            <a:ext cx="295442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A2A53"/>
                </a:solidFill>
                <a:latin typeface="Pretendard"/>
              </a:rPr>
              <a:t>Send / Receive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2868" y="2441448"/>
            <a:ext cx="29544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00A0D2"/>
                </a:solidFill>
                <a:latin typeface="Pretendard"/>
              </a:rPr>
              <a:t>전문·통보를 자동 송수신</a:t>
            </a:r>
          </a:p>
        </p:txBody>
      </p:sp>
      <p:sp>
        <p:nvSpPr>
          <p:cNvPr id="42" name="Oval 41"/>
          <p:cNvSpPr/>
          <p:nvPr/>
        </p:nvSpPr>
        <p:spPr>
          <a:xfrm>
            <a:off x="8341156" y="2839212"/>
            <a:ext cx="68580" cy="68580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24036" y="2743200"/>
            <a:ext cx="273497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SWIFT MT103 · MT999 전문 자동 발송, 접수번호를 변수에 저장</a:t>
            </a:r>
          </a:p>
        </p:txBody>
      </p:sp>
      <p:sp>
        <p:nvSpPr>
          <p:cNvPr id="44" name="Oval 43"/>
          <p:cNvSpPr/>
          <p:nvPr/>
        </p:nvSpPr>
        <p:spPr>
          <a:xfrm>
            <a:off x="8341156" y="3351276"/>
            <a:ext cx="68580" cy="68580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24036" y="3255264"/>
            <a:ext cx="273497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입금 통보(MT910) 도착 시 상관키로 해당 건을 찾아 자동 재개</a:t>
            </a:r>
          </a:p>
        </p:txBody>
      </p:sp>
      <p:sp>
        <p:nvSpPr>
          <p:cNvPr id="46" name="Oval 45"/>
          <p:cNvSpPr/>
          <p:nvPr/>
        </p:nvSpPr>
        <p:spPr>
          <a:xfrm>
            <a:off x="8341156" y="3863340"/>
            <a:ext cx="68580" cy="68580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24036" y="3767328"/>
            <a:ext cx="273497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이메일 통보는 트랜잭션 커밋 시 발송 — 롤백되면 메일도 안 나감</a:t>
            </a:r>
          </a:p>
        </p:txBody>
      </p:sp>
      <p:sp>
        <p:nvSpPr>
          <p:cNvPr id="48" name="Oval 47"/>
          <p:cNvSpPr/>
          <p:nvPr/>
        </p:nvSpPr>
        <p:spPr>
          <a:xfrm>
            <a:off x="8341156" y="4375404"/>
            <a:ext cx="68580" cy="68580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24036" y="4279392"/>
            <a:ext cx="273497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프로세스 간 통신 — 여신신규 ↔ 여신심사 비동기 연결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322868" y="4892040"/>
            <a:ext cx="2954427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322868" y="4983480"/>
            <a:ext cx="29544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>
                <a:solidFill>
                  <a:srgbClr val="0060AE"/>
                </a:solidFill>
                <a:latin typeface="Pretendard"/>
              </a:rPr>
              <a:t>수협 적용 지점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>
                <a:solidFill>
                  <a:srgbClr val="0060AE"/>
                </a:solidFill>
                <a:latin typeface="Pretendard"/>
              </a:rPr>
              <a:t>송금전문 · 조회전문 · DM 발송/반송 · 고객 통보 · 심사 요청/결과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5696712"/>
            <a:ext cx="10874959" cy="566928"/>
          </a:xfrm>
          <a:prstGeom prst="roundRect">
            <a:avLst>
              <a:gd name="adj" fmla="val 5000"/>
            </a:avLst>
          </a:prstGeom>
          <a:solidFill>
            <a:srgbClr val="EFFAF8"/>
          </a:solidFill>
          <a:ln w="13970">
            <a:solidFill>
              <a:srgbClr val="BF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024128" y="5779008"/>
            <a:ext cx="101434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0A2A53"/>
                </a:solidFill>
                <a:latin typeface="Pretendard"/>
              </a:rPr>
              <a:t>핵심은 «자동화를 늘리는 것» 이 아니라 «자동화 실패를 프로세스가 책임지는 것» 입니다.  지연·오류 시 사람으로 돌아오는 길이 항상 도면에 있습니다.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783915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B3A4"/>
                </a:solidFill>
                <a:latin typeface="Pretendard"/>
              </a:rPr>
              <a:t>변화 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컴플라이언스 — 규칙을 «표» 로 꺼내고, 판단 근거를 남깁니다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DMN(Decision Model and Notation) 은 업무 규칙을 표로 표현하는 국제 표준입니다. 현업이 읽고 직접 고칠 수 있습니다.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37944"/>
            <a:ext cx="5763728" cy="2962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200253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여신 시스템 심사 규칙표  ·  loanScreening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313432"/>
            <a:ext cx="5251664" cy="336499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42416" y="2313432"/>
            <a:ext cx="630077" cy="3364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</a:rPr>
              <a:t>신용등급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1949" y="2313432"/>
            <a:ext cx="552847" cy="3364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</a:rPr>
              <a:t>DSR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4253" y="2313432"/>
            <a:ext cx="552847" cy="3364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</a:rPr>
              <a:t>LTV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6557" y="2313432"/>
            <a:ext cx="784538" cy="3364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0551" y="2313432"/>
            <a:ext cx="1634072" cy="3364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</a:rPr>
              <a:t>사유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" y="2649931"/>
            <a:ext cx="6300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≤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1949" y="2649931"/>
            <a:ext cx="55284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≤ 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64253" y="2649931"/>
            <a:ext cx="55284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≤ 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36557" y="2649931"/>
            <a:ext cx="78453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APPROVE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0551" y="2649931"/>
            <a:ext cx="16340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자동승인 기준 충족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2649931"/>
            <a:ext cx="5251664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14400" y="3015691"/>
            <a:ext cx="5251664" cy="365760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42416" y="3015691"/>
            <a:ext cx="6300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≤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91949" y="3015691"/>
            <a:ext cx="55284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≤ 40%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4253" y="3015691"/>
            <a:ext cx="55284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36557" y="3015691"/>
            <a:ext cx="78453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MANUAL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0551" y="3015691"/>
            <a:ext cx="16340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본부 심사 대상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3015691"/>
            <a:ext cx="5251664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42416" y="3381451"/>
            <a:ext cx="6300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91949" y="3381451"/>
            <a:ext cx="55284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&gt; 40%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64253" y="3381451"/>
            <a:ext cx="55284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6557" y="3381451"/>
            <a:ext cx="78453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REJECT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40551" y="3381451"/>
            <a:ext cx="16340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DSR 한도 초과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4400" y="3381451"/>
            <a:ext cx="5251664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14400" y="3747211"/>
            <a:ext cx="5251664" cy="365760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42416" y="3747211"/>
            <a:ext cx="6300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91949" y="3747211"/>
            <a:ext cx="55284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64253" y="3747211"/>
            <a:ext cx="55284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36557" y="3747211"/>
            <a:ext cx="78453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REJECT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40551" y="3747211"/>
            <a:ext cx="16340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기타 부적격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14400" y="3747211"/>
            <a:ext cx="5251664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14400" y="4112971"/>
            <a:ext cx="5251664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14400" y="4233672"/>
            <a:ext cx="525166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위에서부터 처음 맞는 행이 적용됩니다(hit policy: FIRST).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순서가 곧 우선순위이고, 마지막 행이 기본값입니다.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39595" y="1837944"/>
            <a:ext cx="4893731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6639595" y="1837944"/>
            <a:ext cx="50292" cy="676656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9051" y="1929384"/>
            <a:ext cx="44548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규칙이 눈에 보인다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9051" y="2203704"/>
            <a:ext cx="44548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규정집·코드·엑셀에 흩어진 기준이 한 표로 모입니다.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39595" y="2606040"/>
            <a:ext cx="4893731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639595" y="2606040"/>
            <a:ext cx="50292" cy="67665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9051" y="2697480"/>
            <a:ext cx="44548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현업이 직접 바꾼다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9051" y="2971800"/>
            <a:ext cx="44548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DSR 40 → 30 을 표에서 고치고 저장하면 다음 건부터 적용.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639595" y="3374136"/>
            <a:ext cx="4893731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6639595" y="3374136"/>
            <a:ext cx="50292" cy="676656"/>
          </a:xfrm>
          <a:prstGeom prst="rect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9051" y="3465576"/>
            <a:ext cx="44548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판단 근거가 남는다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9051" y="3739896"/>
            <a:ext cx="44548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판정 결과와 «사유», 적중한 규칙 번호가 건별로 기록됩니다.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39595" y="4142232"/>
            <a:ext cx="4893731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6639595" y="4142232"/>
            <a:ext cx="50292" cy="676656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9051" y="4233672"/>
            <a:ext cx="44548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설명할 수 있다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9051" y="4507992"/>
            <a:ext cx="44548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«왜 부결됐습니까» 에 근거를 제시할 수 있습니다 — 민원·감독 대응.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8368" y="4946904"/>
            <a:ext cx="10874959" cy="950976"/>
          </a:xfrm>
          <a:prstGeom prst="roundRect">
            <a:avLst>
              <a:gd name="adj" fmla="val 5000"/>
            </a:avLst>
          </a:prstGeom>
          <a:solidFill>
            <a:srgbClr val="FFFBEE"/>
          </a:solidFill>
          <a:ln w="13970">
            <a:solidFill>
              <a:srgbClr val="EED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987552" y="5074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E8B42B"/>
                </a:solidFill>
                <a:latin typeface="Pretendard"/>
              </a:rPr>
              <a:t>금융권에서 특히 중요한 이유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58768" y="5330952"/>
            <a:ext cx="17860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· 규칙 변경 이력이 버전 관리된다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91123" y="5330952"/>
            <a:ext cx="17860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· 누가 언제 규칙을 바꿨는지 남는다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23479" y="5330952"/>
            <a:ext cx="17860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· «설명 가능성» — 자동판정의 근거 제시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55835" y="5330952"/>
            <a:ext cx="178605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· 규칙과 프로세스의 책임 분리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1255654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60AE"/>
                </a:solidFill>
                <a:latin typeface="Pretendard"/>
              </a:rPr>
              <a:t>PART 2 ·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한 장으로 보는 Before / 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«시스템을 하나 더 만드는 것» 이 아니라 «일하는 방식» 이 바뀝니다.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10874959" cy="315468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1783080"/>
            <a:ext cx="1139913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Pretendard"/>
              </a:rPr>
              <a:t>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5753" y="1783080"/>
            <a:ext cx="304303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Pretendard"/>
              </a:rPr>
              <a:t>SoR 만 있을 때 (AS-IS)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8241" y="1783080"/>
            <a:ext cx="3314905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Pretendard"/>
              </a:rPr>
              <a:t>BPM 도입 후 (TO-BE)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2603" y="1783080"/>
            <a:ext cx="2499283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Pretendard"/>
              </a:rPr>
              <a:t>가능케 하는 기능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098548"/>
            <a:ext cx="113991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업무 진입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5753" y="2098548"/>
            <a:ext cx="3043031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메뉴를 찾아가 조회한다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8241" y="2098548"/>
            <a:ext cx="331490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할 일이 워크리스트로 찾아온다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603" y="2098548"/>
            <a:ext cx="249928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역할·조직도 기반 자동 배정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2098548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58368" y="2441448"/>
            <a:ext cx="10874959" cy="342900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86384" y="2441448"/>
            <a:ext cx="113991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업무 순서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5753" y="2441448"/>
            <a:ext cx="3043031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사람이 기억하고 판단한다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8241" y="2441448"/>
            <a:ext cx="331490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엔진이 순서를 강제한다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603" y="2441448"/>
            <a:ext cx="249928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시퀀스 플로우 · 게이트웨이 조건식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2441448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6384" y="2784348"/>
            <a:ext cx="113991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5753" y="2784348"/>
            <a:ext cx="3043031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단계 간 데이터가 끊긴다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8241" y="2784348"/>
            <a:ext cx="331490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프로세스 변수로 끝까지 흐른다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42603" y="2784348"/>
            <a:ext cx="249928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변수 선언 · 입출력 매핑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2784348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58368" y="3127248"/>
            <a:ext cx="10874959" cy="342900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86384" y="3127248"/>
            <a:ext cx="113991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기한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5753" y="3127248"/>
            <a:ext cx="3043031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duration 은 장식, 초과해도 무반응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08241" y="3127248"/>
            <a:ext cx="331490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기한 초과 시 알림 → 자동 상신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42603" y="3127248"/>
            <a:ext cx="249928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Timer Boundary · Escalation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8368" y="3127248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86384" y="3470148"/>
            <a:ext cx="113991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대기 업무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45753" y="3470148"/>
            <a:ext cx="3043031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«확인» 업무가 워크리스트에 계속 쌓임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8241" y="3470148"/>
            <a:ext cx="331490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엔진이 대기, 사람은 아무것도 안 한다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42603" y="3470148"/>
            <a:ext cx="249928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Message Catch · Event-based Gateway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8368" y="3470148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58368" y="3813048"/>
            <a:ext cx="10874959" cy="342900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86384" y="3813048"/>
            <a:ext cx="113991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병렬 업무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45753" y="3813048"/>
            <a:ext cx="3043031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위원 수만큼 Task 를 복사해야 한다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08241" y="3813048"/>
            <a:ext cx="331490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인원 수만큼 자동 분기, 실행 중 증감 가능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42603" y="3813048"/>
            <a:ext cx="249928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Multi-Instance (forEachRole)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8368" y="3813048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86384" y="4155948"/>
            <a:ext cx="113991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업무 규칙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5753" y="4155948"/>
            <a:ext cx="3043031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코드·엑셀·머릿속에 분산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08241" y="4155948"/>
            <a:ext cx="331490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규칙표(DMN)로 외부화, 현업이 수정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42603" y="4155948"/>
            <a:ext cx="249928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Business Rule Task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58368" y="4155948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658368" y="4498848"/>
            <a:ext cx="10874959" cy="342900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6384" y="4498848"/>
            <a:ext cx="113991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규칙 변경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45753" y="4498848"/>
            <a:ext cx="3043031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개발 → 테스트 → 재배포 (수 주)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08241" y="4498848"/>
            <a:ext cx="331490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표 수정 → 저장 → 즉시 적용 (무중단)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42603" y="4498848"/>
            <a:ext cx="249928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룰 단독 배포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58368" y="4498848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86384" y="4841748"/>
            <a:ext cx="113991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외부 조회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45753" y="4841748"/>
            <a:ext cx="3043031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사람이 사이트 6~7개를 연다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08241" y="4841748"/>
            <a:ext cx="331490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봇이 조회하고 결과가 변수에 채워진다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42603" y="4841748"/>
            <a:ext cx="249928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RPA Task + 실패 폴백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58368" y="4841748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658368" y="5184648"/>
            <a:ext cx="10874959" cy="342900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786384" y="5184648"/>
            <a:ext cx="113991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DB 작업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45753" y="5184648"/>
            <a:ext cx="3043031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사람이 조회·등록 화면을 실행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08241" y="5184648"/>
            <a:ext cx="331490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SQL Task 가 트랜잭션 안에서 처리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42603" y="5184648"/>
            <a:ext cx="249928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SQLTask · DatabaseMapping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58368" y="5184648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86384" y="5527548"/>
            <a:ext cx="113991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취소 · 정정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45753" y="5527548"/>
            <a:ext cx="3043031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되돌림 경로 없음, 전화와 메모로 수습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08241" y="5527548"/>
            <a:ext cx="331490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완료된 것만 역순으로 자동 보상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42603" y="5527548"/>
            <a:ext cx="249928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Compensation · backToHere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58368" y="5527548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658368" y="5870448"/>
            <a:ext cx="10874959" cy="342900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786384" y="5870448"/>
            <a:ext cx="113991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측정 · 감사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45753" y="5870448"/>
            <a:ext cx="3043031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«했다» 는 주장만 남는다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08241" y="5870448"/>
            <a:ext cx="331490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준수율·처리시간·판정사유가 데이터로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42603" y="5870448"/>
            <a:ext cx="249928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인스턴스 이력 · 모니터링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58368" y="5870448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58368" y="6213348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899855" y="-1737360"/>
            <a:ext cx="4937760" cy="4937760"/>
          </a:xfrm>
          <a:prstGeom prst="ellipse">
            <a:avLst/>
          </a:prstGeom>
          <a:solidFill>
            <a:srgbClr val="103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80015" y="3108960"/>
            <a:ext cx="3840480" cy="3840480"/>
          </a:xfrm>
          <a:prstGeom prst="ellipse">
            <a:avLst/>
          </a:prstGeom>
          <a:solidFill>
            <a:srgbClr val="0D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57200"/>
            <a:ext cx="310164" cy="29260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72" b="1">
                <a:solidFill>
                  <a:srgbClr val="0060AE"/>
                </a:solidFill>
                <a:latin typeface="Pretendard"/>
              </a:rPr>
              <a:t>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201" y="48646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12" b="1">
                <a:solidFill>
                  <a:srgbClr val="FFFFFF"/>
                </a:solidFill>
                <a:latin typeface="Pretendard"/>
              </a:rPr>
              <a:t>수협은행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0A0D2"/>
                </a:solidFill>
                <a:latin typeface="Pretendard"/>
              </a:rPr>
              <a:t>PART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86000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</a:rPr>
              <a:t>수협 실제 업무로 보는 데모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3310128"/>
            <a:ext cx="1463040" cy="0"/>
          </a:xfrm>
          <a:prstGeom prst="line">
            <a:avLst/>
          </a:prstGeom>
          <a:ln w="38100">
            <a:solidFill>
              <a:srgbClr val="00A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3493008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B9D3E9"/>
                </a:solidFill>
                <a:latin typeface="Pretendard"/>
              </a:rPr>
              <a:t>가상의 예제가 아닙니다. 제출해 주신 7개 업무 도면에서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B9D3E9"/>
                </a:solidFill>
                <a:latin typeface="Pretendard"/>
              </a:rPr>
              <a:t>그대로 도출한 8개 시연 시나리오입니다.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238244"/>
            <a:ext cx="82296" cy="82296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4223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5E6F4"/>
                </a:solidFill>
                <a:latin typeface="Pretendard"/>
              </a:rPr>
              <a:t>여신신규(주택담보대출) · 여신심사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" y="4604004"/>
            <a:ext cx="82296" cy="82296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0799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5E6F4"/>
                </a:solidFill>
                <a:latin typeface="Pretendard"/>
              </a:rPr>
              <a:t>수출환어음 매입 · 추심 결재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" y="4969764"/>
            <a:ext cx="82296" cy="82296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7375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5E6F4"/>
                </a:solidFill>
                <a:latin typeface="Pretendard"/>
              </a:rPr>
              <a:t>기업신용카드 신규발급 · 일반계좌신규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" y="5335524"/>
            <a:ext cx="82296" cy="82296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3951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5E6F4"/>
                </a:solidFill>
                <a:latin typeface="Pretendard"/>
              </a:rPr>
              <a:t>예금잔액 통보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" y="5701284"/>
            <a:ext cx="82296" cy="82296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0527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5E6F4"/>
                </a:solidFill>
                <a:latin typeface="Pretendard"/>
              </a:rPr>
              <a:t>그리고 이 모두를 하나로 엮은 통합 데모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C81A6"/>
                </a:solidFill>
                <a:latin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708477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60AE"/>
                </a:solidFill>
                <a:latin typeface="Pretendard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데모 시나리오 맵 — 어느 도면에서 무엇을 보여 드리나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7개 원본 도면 → 8개 시연 시나리오. 각 시나리오는 독립적으로도 시연 가능합니다.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013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8B9AA8"/>
                </a:solidFill>
                <a:latin typeface="Pretendard"/>
              </a:rPr>
              <a:t>수협 As-Is 도면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12264"/>
            <a:ext cx="2555615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59" y="2203704"/>
            <a:ext cx="2226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1. 여신신규_주택담보대출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87752"/>
            <a:ext cx="2555615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59" y="2679192"/>
            <a:ext cx="2226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2. 수출환어음 매입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63240"/>
            <a:ext cx="2555615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59" y="3154680"/>
            <a:ext cx="2226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3. 기업신용카드 신규발급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38728"/>
            <a:ext cx="2555615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59" y="3630168"/>
            <a:ext cx="2226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4. 일반계좌신규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014216"/>
            <a:ext cx="2555615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59" y="4105656"/>
            <a:ext cx="2226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5. 예금잔액 통보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489704"/>
            <a:ext cx="2555615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59" y="4581144"/>
            <a:ext cx="2226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수출환어음 매입 및 추심결재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65192"/>
            <a:ext cx="2555615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59" y="5056632"/>
            <a:ext cx="2226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여신심사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1263" y="18013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060AE"/>
                </a:solidFill>
                <a:latin typeface="Pretendard"/>
              </a:rPr>
              <a:t>시연 시나리오 (uEngine 특징 기능)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1263" y="2112264"/>
            <a:ext cx="7222063" cy="3566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11263" y="2112264"/>
            <a:ext cx="45720" cy="356616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7567" y="2171700"/>
            <a:ext cx="237744" cy="237744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5039" y="218084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0A2A53"/>
                </a:solidFill>
                <a:latin typeface="Pretendard"/>
              </a:rPr>
              <a:t>보상 처리 Compensation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1743" y="2180844"/>
            <a:ext cx="31987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부결·불일치 시 자동 되돌림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1263" y="2528316"/>
            <a:ext cx="7222063" cy="3566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311263" y="2528316"/>
            <a:ext cx="45720" cy="356616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57567" y="2587752"/>
            <a:ext cx="237744" cy="237744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5039" y="2596896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0A2A53"/>
                </a:solidFill>
                <a:latin typeface="Pretendard"/>
              </a:rPr>
              <a:t>멀티 인스턴스 Multi-Instance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1743" y="2596896"/>
            <a:ext cx="31987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위원 수만큼 병렬 심의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11263" y="2944368"/>
            <a:ext cx="7222063" cy="3566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4311263" y="2944368"/>
            <a:ext cx="45720" cy="356616"/>
          </a:xfrm>
          <a:prstGeom prst="rect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57567" y="3003804"/>
            <a:ext cx="237744" cy="237744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5039" y="301294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0A2A53"/>
                </a:solidFill>
                <a:latin typeface="Pretendard"/>
              </a:rPr>
              <a:t>이벤트 처리 Event Handling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1743" y="3012948"/>
            <a:ext cx="31987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입금 대기 · SLA 상신 · 예외 감시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11263" y="3360420"/>
            <a:ext cx="7222063" cy="3566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4311263" y="3360420"/>
            <a:ext cx="45720" cy="35661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457567" y="3419856"/>
            <a:ext cx="237744" cy="237744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5039" y="342900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0A2A53"/>
                </a:solidFill>
                <a:latin typeface="Pretendard"/>
              </a:rPr>
              <a:t>SQL Task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51743" y="3429000"/>
            <a:ext cx="31987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조회 결과가 곧 프로세스 데이터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11263" y="3776472"/>
            <a:ext cx="7222063" cy="3566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4311263" y="3776472"/>
            <a:ext cx="45720" cy="35661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457567" y="3835908"/>
            <a:ext cx="237744" cy="237744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05039" y="384505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0A2A53"/>
                </a:solidFill>
                <a:latin typeface="Pretendard"/>
              </a:rPr>
              <a:t>RPA Task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51743" y="3845052"/>
            <a:ext cx="31987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봇이 조회하고 프로세스가 기다린다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11263" y="4192524"/>
            <a:ext cx="7222063" cy="3566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4311263" y="4192524"/>
            <a:ext cx="45720" cy="356616"/>
          </a:xfrm>
          <a:prstGeom prst="rect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457567" y="4251960"/>
            <a:ext cx="237744" cy="237744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5039" y="426110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0A2A53"/>
                </a:solidFill>
                <a:latin typeface="Pretendard"/>
              </a:rPr>
              <a:t>메시지 송·수신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51743" y="4261104"/>
            <a:ext cx="31987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SWIFT 전문 · 프로세스 간 통신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11263" y="4608576"/>
            <a:ext cx="7222063" cy="3566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4311263" y="4608576"/>
            <a:ext cx="45720" cy="356616"/>
          </a:xfrm>
          <a:prstGeom prst="rect">
            <a:avLst/>
          </a:prstGeom>
          <a:solidFill>
            <a:srgbClr val="E8B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457567" y="4668012"/>
            <a:ext cx="237744" cy="237744"/>
          </a:xfrm>
          <a:prstGeom prst="ellipse">
            <a:avLst/>
          </a:prstGeom>
          <a:solidFill>
            <a:srgbClr val="E8B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05039" y="4677156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0A2A53"/>
                </a:solidFill>
                <a:latin typeface="Pretendard"/>
              </a:rPr>
              <a:t>DMN 비즈니스 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51743" y="4677156"/>
            <a:ext cx="31987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규칙 무중단 변경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11263" y="5024628"/>
            <a:ext cx="7222063" cy="3566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4311263" y="5024628"/>
            <a:ext cx="45720" cy="356616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457567" y="5084064"/>
            <a:ext cx="237744" cy="237744"/>
          </a:xfrm>
          <a:prstGeom prst="ellipse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05039" y="509320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0A2A53"/>
                </a:solidFill>
                <a:latin typeface="Pretendard"/>
              </a:rPr>
              <a:t>통합 데모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51743" y="5093208"/>
            <a:ext cx="31987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A6B7D"/>
                </a:solidFill>
                <a:latin typeface="Pretendard"/>
              </a:rPr>
              <a:t>여신신규 To-Be 한 흐름에 전부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3524879" y="3483864"/>
            <a:ext cx="475488" cy="329184"/>
          </a:xfrm>
          <a:prstGeom prst="rightArrow">
            <a:avLst/>
          </a:prstGeom>
          <a:solidFill>
            <a:srgbClr val="C5D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05423" y="3886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도출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3289462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37B21"/>
                </a:solidFill>
                <a:latin typeface="Pretendard"/>
              </a:rPr>
              <a:t>시나리오 1  ·  보상 처리 (Compensation)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부결되면, 이미 만들어 놓은 등록을 «자동으로» 되돌립니다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133856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1673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8B9AA8"/>
                </a:solidFill>
                <a:latin typeface="Pretendard"/>
              </a:rPr>
              <a:t>근거 도면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298448"/>
            <a:ext cx="1747509" cy="237744"/>
          </a:xfrm>
          <a:prstGeom prst="roundRect">
            <a:avLst>
              <a:gd name="adj" fmla="val 50000"/>
            </a:avLst>
          </a:prstGeom>
          <a:solidFill>
            <a:srgbClr val="6B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1. 여신신규_주택담보대출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1989" y="1298448"/>
            <a:ext cx="1369634" cy="237744"/>
          </a:xfrm>
          <a:prstGeom prst="roundRect">
            <a:avLst>
              <a:gd name="adj" fmla="val 50000"/>
            </a:avLst>
          </a:prstGeom>
          <a:solidFill>
            <a:srgbClr val="6B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2. 수출환어음 매입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64207"/>
            <a:ext cx="3262487" cy="2999232"/>
          </a:xfrm>
          <a:prstGeom prst="roundRect">
            <a:avLst>
              <a:gd name="adj" fmla="val 5000"/>
            </a:avLst>
          </a:prstGeom>
          <a:solidFill>
            <a:srgbClr val="FFF7F1"/>
          </a:solidFill>
          <a:ln w="13970">
            <a:solidFill>
              <a:srgbClr val="F3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77824" y="1810511"/>
            <a:ext cx="1096365" cy="237744"/>
          </a:xfrm>
          <a:prstGeom prst="roundRect">
            <a:avLst>
              <a:gd name="adj" fmla="val 50000"/>
            </a:avLst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AS-IS 의 한계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2258568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157984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취소 시 앞 단계로 돌아가는 경로가 도면에 아예 없다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2843784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2743200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되돌림을 그리면 취소 대상 8단계 × 취소 Task = 도면이 폭발한다</a:t>
            </a:r>
          </a:p>
        </p:txBody>
      </p:sp>
      <p:sp>
        <p:nvSpPr>
          <p:cNvPr id="18" name="Oval 17"/>
          <p:cNvSpPr/>
          <p:nvPr/>
        </p:nvSpPr>
        <p:spPr>
          <a:xfrm>
            <a:off x="896112" y="3429000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3328416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담보연결 해제 → 보증서 반환 → 예정등록 취소 의 «역순» 이 강제되지 않는다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" y="4014216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913632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5단계까지만 진행된 건을 어디까지 취소해야 하는지 표현할 수 없다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40311" y="1664207"/>
            <a:ext cx="7393015" cy="2999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4359767" y="1810511"/>
            <a:ext cx="1228953" cy="237744"/>
          </a:xfrm>
          <a:prstGeom prst="roundRect">
            <a:avLst>
              <a:gd name="adj" fmla="val 50000"/>
            </a:avLst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TO-BE 시연 흐름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9767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4469495" y="2286000"/>
            <a:ext cx="228600" cy="22860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2103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예정등록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8639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계정계에 여신·담보 예정 레코드 생성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641774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778934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5888662" y="2286000"/>
            <a:ext cx="228600" cy="22860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270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보증서 발급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06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보증기관 연계 → 담보등록 → 여신 담보 연결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060941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198101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7307829" y="2286000"/>
            <a:ext cx="228600" cy="22860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0437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본부 결재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6973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승인 여부 = N (부결)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480109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617269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8726997" y="2286000"/>
            <a:ext cx="228600" cy="22860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9605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자동 보상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6141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완료된 등록만 역순으로 자동 취소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9899276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036436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0146164" y="2286000"/>
            <a:ext cx="228600" cy="22860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38772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부결 통보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55308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취소가 모두 끝난 뒤 고객 통보 후 종료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59767" y="4023360"/>
            <a:ext cx="6954103" cy="512064"/>
          </a:xfrm>
          <a:prstGeom prst="roundRect">
            <a:avLst>
              <a:gd name="adj" fmla="val 10000"/>
            </a:avLst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506071" y="4069079"/>
            <a:ext cx="6661495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★  «취소 화살표» 를 한 개도 그리지 않았는데, 엔진이 «완료된 것만 · 역순으로» 되돌립니다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4791455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데모에서 직접 확인하실 것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658368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2단계까지 진행 후 부결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보상 핸들러 2개만 실행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22827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422827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570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6단계까지 진행 후 부결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0570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4개 실행 · 순서가 정확한 역순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87287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6187287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7016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수출환어음 사후 하자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7016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«매입실행» 지점까지 되돌린 뒤 그 지점부터 재개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51747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8951747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3462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모니터링 화면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3462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보상된 단계 상태가 Compensated 로 표시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4072006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60AE"/>
                </a:solidFill>
                <a:latin typeface="Pretendard"/>
              </a:rPr>
              <a:t>시나리오 2  ·  멀티 인스턴스 (Multiple Instances)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여신심사위원회 — 위원 수만큼 «자동으로» 갈라집니다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133856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1673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8B9AA8"/>
                </a:solidFill>
                <a:latin typeface="Pretendard"/>
              </a:rPr>
              <a:t>근거 도면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298448"/>
            <a:ext cx="741578" cy="237744"/>
          </a:xfrm>
          <a:prstGeom prst="roundRect">
            <a:avLst>
              <a:gd name="adj" fmla="val 50000"/>
            </a:avLst>
          </a:prstGeom>
          <a:solidFill>
            <a:srgbClr val="6B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여신심사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96058" y="1298448"/>
            <a:ext cx="1243675" cy="237744"/>
          </a:xfrm>
          <a:prstGeom prst="roundRect">
            <a:avLst>
              <a:gd name="adj" fmla="val 50000"/>
            </a:avLst>
          </a:prstGeom>
          <a:solidFill>
            <a:srgbClr val="6B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5. 예금잔액 통보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1173" y="1298448"/>
            <a:ext cx="1747509" cy="237744"/>
          </a:xfrm>
          <a:prstGeom prst="roundRect">
            <a:avLst>
              <a:gd name="adj" fmla="val 50000"/>
            </a:avLst>
          </a:prstGeom>
          <a:solidFill>
            <a:srgbClr val="6B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1. 여신신규_주택담보대출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664207"/>
            <a:ext cx="3262487" cy="2999232"/>
          </a:xfrm>
          <a:prstGeom prst="roundRect">
            <a:avLst>
              <a:gd name="adj" fmla="val 5000"/>
            </a:avLst>
          </a:prstGeom>
          <a:solidFill>
            <a:srgbClr val="FFF7F1"/>
          </a:solidFill>
          <a:ln w="13970">
            <a:solidFill>
              <a:srgbClr val="F3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77824" y="1810511"/>
            <a:ext cx="1096365" cy="237744"/>
          </a:xfrm>
          <a:prstGeom prst="roundRect">
            <a:avLst>
              <a:gd name="adj" fmla="val 50000"/>
            </a:avLst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AS-IS 의 한계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2258568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157984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위원이 5명이면 Task 5개를 복사해 붙여야 한다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2843784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2743200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위원 교체·증원 시 프로세스 정의를 다시 배포해야 한다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3429000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328416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«3번 위원이 반대» 같은 개별 결과가 데이터로 남지 않는다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" y="4014216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913632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과반 찬성 · 전원 동의 판정이 사람 머릿속에만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40311" y="1664207"/>
            <a:ext cx="7393015" cy="2999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4359767" y="1810511"/>
            <a:ext cx="1228953" cy="237744"/>
          </a:xfrm>
          <a:prstGeom prst="roundRect">
            <a:avLst>
              <a:gd name="adj" fmla="val 50000"/>
            </a:avLst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TO-BE 시연 흐름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9767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4469495" y="2286000"/>
            <a:ext cx="228600" cy="22860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2103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위원 지정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8639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심사부 간사가 이번 안건의 위원 5명 지정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641774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78934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5888662" y="2286000"/>
            <a:ext cx="228600" cy="22860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270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자동 분기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06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엔진이 심의 서브프로세스를 5개 생성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060941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198101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7307829" y="2286000"/>
            <a:ext cx="228600" cy="22860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0437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병렬 심의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6973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각 위원 워크리스트에 본인 건 1개만 표시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480109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617269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8726997" y="2286000"/>
            <a:ext cx="228600" cy="22860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19605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완료 대기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6141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전원 완료까지 상위 프로세스가 대기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9899276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036436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10146164" y="2286000"/>
            <a:ext cx="228600" cy="22860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38772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의결 집계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55308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찬반 집계 후 DMN 이 과반 여부 판정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59767" y="4023360"/>
            <a:ext cx="6954103" cy="512064"/>
          </a:xfrm>
          <a:prstGeom prst="roundRect">
            <a:avLst>
              <a:gd name="adj" fmla="val 10000"/>
            </a:avLst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06071" y="4069079"/>
            <a:ext cx="6661495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★  정의는 하나인데 실행 시 인원 수만큼 갈라집니다 — 심의 도중 위원을 추가하면 인스턴스가 1개 더 생깁니다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4791455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데모에서 직접 확인하실 것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58368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위원 5명 지정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서브 인스턴스 5개 생성 · 라벨에 위원 이름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22827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422827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0570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위원 3명으로 재실행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0570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정의 변경 없이 3개만 생성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87287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187287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7016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심의 중 위원 1명 추가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7016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기존 4개는 유지 + 1개 추가 생성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51747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8951747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3462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4명만 처리한 상태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3462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상위 프로세스는 계속 대기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3602278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A0D2"/>
                </a:solidFill>
                <a:latin typeface="Pretendard"/>
              </a:rPr>
              <a:t>시나리오 3  ·  이벤트 처리 (Event Handling)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기다리는 일은 사람이 아니라 «엔진» 이 합니다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133856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1673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8B9AA8"/>
                </a:solidFill>
                <a:latin typeface="Pretendard"/>
              </a:rPr>
              <a:t>근거 도면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298448"/>
            <a:ext cx="1936882" cy="237744"/>
          </a:xfrm>
          <a:prstGeom prst="roundRect">
            <a:avLst>
              <a:gd name="adj" fmla="val 50000"/>
            </a:avLst>
          </a:prstGeom>
          <a:solidFill>
            <a:srgbClr val="6B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수출환어음 매입 및 추심결재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1362" y="1298448"/>
            <a:ext cx="741578" cy="237744"/>
          </a:xfrm>
          <a:prstGeom prst="roundRect">
            <a:avLst>
              <a:gd name="adj" fmla="val 50000"/>
            </a:avLst>
          </a:prstGeom>
          <a:solidFill>
            <a:srgbClr val="6B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여신심사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4380" y="1298448"/>
            <a:ext cx="1369634" cy="237744"/>
          </a:xfrm>
          <a:prstGeom prst="roundRect">
            <a:avLst>
              <a:gd name="adj" fmla="val 50000"/>
            </a:avLst>
          </a:prstGeom>
          <a:solidFill>
            <a:srgbClr val="6B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2. 수출환어음 매입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664207"/>
            <a:ext cx="3262487" cy="2999232"/>
          </a:xfrm>
          <a:prstGeom prst="roundRect">
            <a:avLst>
              <a:gd name="adj" fmla="val 5000"/>
            </a:avLst>
          </a:prstGeom>
          <a:solidFill>
            <a:srgbClr val="FFF7F1"/>
          </a:solidFill>
          <a:ln w="13970">
            <a:solidFill>
              <a:srgbClr val="F3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77824" y="1810511"/>
            <a:ext cx="1096365" cy="237744"/>
          </a:xfrm>
          <a:prstGeom prst="roundRect">
            <a:avLst>
              <a:gd name="adj" fmla="val 50000"/>
            </a:avLst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AS-IS 의 한계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2258568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157984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입금 대기를 «폴링 루프» 로 그려 담당자 워크리스트에 «확인» 업무가 계속 쌓인다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2843784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2743200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모든 Task 의 duration 이 5로 박혀 있고 이를 소비하는 로직이 없다 — SLA 부재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3429000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328416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«언제든 도착하는» 하자·부도 통보를 표현할 수단이 없다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" y="4014216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913632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고객 철회 · 시스템 장애 시 흐름을 끊는 경로가 없다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40311" y="1664207"/>
            <a:ext cx="7393015" cy="2999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4359767" y="1810511"/>
            <a:ext cx="1228953" cy="237744"/>
          </a:xfrm>
          <a:prstGeom prst="roundRect">
            <a:avLst>
              <a:gd name="adj" fmla="val 50000"/>
            </a:avLst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TO-BE 시연 흐름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9767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4469495" y="2286000"/>
            <a:ext cx="228600" cy="228600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2103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전문 발송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8639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추심은행에 조회 전문 자동 송신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641774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78934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5888662" y="2286000"/>
            <a:ext cx="228600" cy="228600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270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3갈래 대기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06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입금 통보 · 미입금 타임아웃 · 부도 시그널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060941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198101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7307829" y="2286000"/>
            <a:ext cx="228600" cy="228600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0437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워크리스트 0건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6973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대기 중 사람이 할 일은 아무것도 없다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480109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617269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8726997" y="2286000"/>
            <a:ext cx="228600" cy="228600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19605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이벤트 수신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6141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입금 통보 도착 → 금액·통화·입금일 자동 매핑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9899276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036436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10146164" y="2286000"/>
            <a:ext cx="228600" cy="228600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38772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예외 분기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55308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3일 미입금 → 독촉 전문 / 부도 → 채권 이관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59767" y="4023360"/>
            <a:ext cx="6954103" cy="512064"/>
          </a:xfrm>
          <a:prstGeom prst="roundRect">
            <a:avLst>
              <a:gd name="adj" fmla="val 10000"/>
            </a:avLst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06071" y="4069079"/>
            <a:ext cx="6661495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★  기한이 지나면 스스로 독촉하고, 더 지나면 상급자에게 상신합니다 — 사람의 기억에 의존하지 않습니다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4791455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데모에서 직접 확인하실 것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58368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프로세스 시작 후 워크리스트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비어 있음 — 사람 할 일 0건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22827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422827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0570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입금 통보 수신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0570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즉시 재개 + 전문 필드가 변수에 자동 매핑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87287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187287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7016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«필요서류 보완» 방치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7016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D+3 알림(Task 유지) → D+7 취소 + 지점장 상신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51747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8951747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3462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연동 시스템 강제 오류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3462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프로세스가 죽지 않고 «수기 심사» 로 우회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2038197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B3A4"/>
                </a:solidFill>
                <a:latin typeface="Pretendard"/>
              </a:rPr>
              <a:t>시나리오 4  ·  SQL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조회 결과가 곧 «프로세스 데이터» 가 됩니다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133856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1673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8B9AA8"/>
                </a:solidFill>
                <a:latin typeface="Pretendard"/>
              </a:rPr>
              <a:t>근거 도면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298448"/>
            <a:ext cx="1243675" cy="237744"/>
          </a:xfrm>
          <a:prstGeom prst="roundRect">
            <a:avLst>
              <a:gd name="adj" fmla="val 50000"/>
            </a:avLst>
          </a:prstGeom>
          <a:solidFill>
            <a:srgbClr val="6B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5. 예금잔액 통보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8155" y="1298448"/>
            <a:ext cx="1747509" cy="237744"/>
          </a:xfrm>
          <a:prstGeom prst="roundRect">
            <a:avLst>
              <a:gd name="adj" fmla="val 50000"/>
            </a:avLst>
          </a:prstGeom>
          <a:solidFill>
            <a:srgbClr val="6B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1. 여신신규_주택담보대출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64207"/>
            <a:ext cx="3262487" cy="2999232"/>
          </a:xfrm>
          <a:prstGeom prst="roundRect">
            <a:avLst>
              <a:gd name="adj" fmla="val 5000"/>
            </a:avLst>
          </a:prstGeom>
          <a:solidFill>
            <a:srgbClr val="FFF7F1"/>
          </a:solidFill>
          <a:ln w="13970">
            <a:solidFill>
              <a:srgbClr val="F3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77824" y="1810511"/>
            <a:ext cx="1096365" cy="237744"/>
          </a:xfrm>
          <a:prstGeom prst="roundRect">
            <a:avLst>
              <a:gd name="adj" fmla="val 50000"/>
            </a:avLst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AS-IS 의 한계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2258568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157984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조회·등록이 전부 UserTask — 사람이 화면을 열고 버튼을 누르는 것으로 모델링됨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2843784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2743200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outputData 가 전부 비어 있어 조회 결과가 프로세스로 들어오지 않는다</a:t>
            </a:r>
          </a:p>
        </p:txBody>
      </p:sp>
      <p:sp>
        <p:nvSpPr>
          <p:cNvPr id="18" name="Oval 17"/>
          <p:cNvSpPr/>
          <p:nvPr/>
        </p:nvSpPr>
        <p:spPr>
          <a:xfrm>
            <a:off x="896112" y="3429000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3328416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여러 등록 Task 가 하나의 트랜잭션인지 아닌지 알 수 없다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" y="4014216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913632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어떤 SQL 이 언제 실행됐는지 인스턴스에 남지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40311" y="1664207"/>
            <a:ext cx="7393015" cy="2999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4359767" y="1810511"/>
            <a:ext cx="1228953" cy="237744"/>
          </a:xfrm>
          <a:prstGeom prst="roundRect">
            <a:avLst>
              <a:gd name="adj" fmla="val 50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TO-BE 시연 흐름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9767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4469495" y="228600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2103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기준 입력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8639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본부 담당자가 기준일자·기준금액만 입력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641774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778934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5888662" y="228600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270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자동 조회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06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SQL Task(SELECT)가 대상 계좌 N건 추출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060941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198101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7307829" y="228600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0437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변수 적재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6973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계좌번호·예금주·잔액이 다중 변수로 채워짐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480109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617269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8726997" y="228600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9605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건수 분기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6141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0건이면 즉시 종료 / N건이면 계좌별 반복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9899276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036436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0146164" y="228600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38772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이력 적재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55308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SQL Task(INSERT)가 기록부에 자동 적재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59767" y="4023360"/>
            <a:ext cx="6954103" cy="512064"/>
          </a:xfrm>
          <a:prstGeom prst="roundRect">
            <a:avLst>
              <a:gd name="adj" fmla="val 10000"/>
            </a:avLst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506071" y="4069079"/>
            <a:ext cx="6661495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★  SQL 을 몰라도 «컬럼 매핑» 만으로 INSERT / SELECT 가 자동 생성됩니다 — 현업이 직접 DB 연동을 완성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4791455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데모에서 직접 확인하실 것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658368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기준금액 1,000만원 실행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해당 계좌만 N건 조회되어 변수에 적재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22827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422827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570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인스턴스 디버그 정보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0570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실제 실행된 SQL 전문이 그대로 표시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87287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6187287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7016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컬럼 매핑만으로 등록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7016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생성된 SQL 확인 + 정상 INSERT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51747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8951747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3462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INSERT 직후 강제 실패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3462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같은 트랜잭션이므로 함께 롤백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2038197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B3A4"/>
                </a:solidFill>
                <a:latin typeface="Pretendard"/>
              </a:rPr>
              <a:t>시나리오 5  ·  RPA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봇이 조회하고, 프로세스가 «기다리고 책임집니다»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133856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1673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8B9AA8"/>
                </a:solidFill>
                <a:latin typeface="Pretendard"/>
              </a:rPr>
              <a:t>근거 도면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298448"/>
            <a:ext cx="1747509" cy="237744"/>
          </a:xfrm>
          <a:prstGeom prst="roundRect">
            <a:avLst>
              <a:gd name="adj" fmla="val 50000"/>
            </a:avLst>
          </a:prstGeom>
          <a:solidFill>
            <a:srgbClr val="6B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1. 여신신규_주택담보대출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1989" y="1298448"/>
            <a:ext cx="1747509" cy="237744"/>
          </a:xfrm>
          <a:prstGeom prst="roundRect">
            <a:avLst>
              <a:gd name="adj" fmla="val 50000"/>
            </a:avLst>
          </a:prstGeom>
          <a:solidFill>
            <a:srgbClr val="6B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3. 기업신용카드 신규발급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0939" y="1298448"/>
            <a:ext cx="1181130" cy="237744"/>
          </a:xfrm>
          <a:prstGeom prst="roundRect">
            <a:avLst>
              <a:gd name="adj" fmla="val 50000"/>
            </a:avLst>
          </a:prstGeom>
          <a:solidFill>
            <a:srgbClr val="6B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4. 일반계좌신규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664207"/>
            <a:ext cx="3262487" cy="2999232"/>
          </a:xfrm>
          <a:prstGeom prst="roundRect">
            <a:avLst>
              <a:gd name="adj" fmla="val 5000"/>
            </a:avLst>
          </a:prstGeom>
          <a:solidFill>
            <a:srgbClr val="FFF7F1"/>
          </a:solidFill>
          <a:ln w="13970">
            <a:solidFill>
              <a:srgbClr val="F3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77824" y="1810511"/>
            <a:ext cx="1096365" cy="237744"/>
          </a:xfrm>
          <a:prstGeom prst="roundRect">
            <a:avLst>
              <a:gd name="adj" fmla="val 50000"/>
            </a:avLst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AS-IS 의 한계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2258568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157984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여신 1건당 외부 사이트 조회만 5회 이상 — 창을 6~7개 열어야 한다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2843784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2743200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조회한 시세·등기·소유여부를 다시 손으로 입력하며 오타가 발생한다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3429000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328416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수 분~수 시간 걸리는 실제 대기가 duration:5 로만 표시된다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" y="4014216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913632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사이트 점검 중이면 담당자가 «알아서 나중에» — 재시도 정책이 없다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40311" y="1664207"/>
            <a:ext cx="7393015" cy="2999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4359767" y="1810511"/>
            <a:ext cx="1228953" cy="237744"/>
          </a:xfrm>
          <a:prstGeom prst="roundRect">
            <a:avLst>
              <a:gd name="adj" fmla="val 50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TO-BE 시연 흐름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9767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4469495" y="228600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2103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명령 발행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8639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엔진이 봇에 조회 명령을 보내고 대기 진입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641774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78934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5888662" y="228600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270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봇 실행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06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KB부동산·국토부 실거래가를 순회하며 수집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060941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198101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7307829" y="228600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0437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콜백 수신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6973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시세·출처·기준일이 변수에 자동 매핑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480109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617269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8726997" y="228600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19605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지연 대응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6141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10분 무응답 시 Timer 발화 → 탁상감정 경로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9899276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036436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10146164" y="228600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38772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실패 폴백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55308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3회 실패 시 «수기 조회» UserTask 로 전환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59767" y="4023360"/>
            <a:ext cx="6954103" cy="512064"/>
          </a:xfrm>
          <a:prstGeom prst="roundRect">
            <a:avLst>
              <a:gd name="adj" fmla="val 10000"/>
            </a:avLst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06071" y="4069079"/>
            <a:ext cx="6661495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★  «봇에게 던져두고 잊는 자동화» 가 아니라, 프로세스가 결과를 기다리고 지연·실패까지 관리합니다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4791455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데모에서 직접 확인하실 것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58368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RPA 단계 진입 시 워크리스트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비어 있음 · 단계 상태는 Running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22827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422827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0570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봇 결과 발행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0570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프로세스 즉시 재개 + 시세 변수 채워짐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87287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187287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7016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무응답 시나리오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7016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Timer 발화 → 수동 조회 경로로 우회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51747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8951747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3462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실패 콜백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3462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재시도 3회 후 사람에게 폴백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3836639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A0D2"/>
                </a:solidFill>
                <a:latin typeface="Pretendard"/>
              </a:rPr>
              <a:t>시나리오 6  ·  메시지 송·수신 (Send / Receive)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전문과 통보를 «시스템이» 주고받습니다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133856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1673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8B9AA8"/>
                </a:solidFill>
                <a:latin typeface="Pretendard"/>
              </a:rPr>
              <a:t>근거 도면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298448"/>
            <a:ext cx="1369634" cy="237744"/>
          </a:xfrm>
          <a:prstGeom prst="roundRect">
            <a:avLst>
              <a:gd name="adj" fmla="val 50000"/>
            </a:avLst>
          </a:prstGeom>
          <a:solidFill>
            <a:srgbClr val="6B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2. 수출환어음 매입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4114" y="1298448"/>
            <a:ext cx="1936882" cy="237744"/>
          </a:xfrm>
          <a:prstGeom prst="roundRect">
            <a:avLst>
              <a:gd name="adj" fmla="val 50000"/>
            </a:avLst>
          </a:prstGeom>
          <a:solidFill>
            <a:srgbClr val="6B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수출환어음 매입 및 추심결재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52436" y="1298448"/>
            <a:ext cx="1243675" cy="237744"/>
          </a:xfrm>
          <a:prstGeom prst="roundRect">
            <a:avLst>
              <a:gd name="adj" fmla="val 50000"/>
            </a:avLst>
          </a:prstGeom>
          <a:solidFill>
            <a:srgbClr val="6B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5. 예금잔액 통보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664207"/>
            <a:ext cx="3262487" cy="2999232"/>
          </a:xfrm>
          <a:prstGeom prst="roundRect">
            <a:avLst>
              <a:gd name="adj" fmla="val 5000"/>
            </a:avLst>
          </a:prstGeom>
          <a:solidFill>
            <a:srgbClr val="FFF7F1"/>
          </a:solidFill>
          <a:ln w="13970">
            <a:solidFill>
              <a:srgbClr val="F3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77824" y="1810511"/>
            <a:ext cx="1096365" cy="237744"/>
          </a:xfrm>
          <a:prstGeom prst="roundRect">
            <a:avLst>
              <a:gd name="adj" fmla="val 50000"/>
            </a:avLst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AS-IS 의 한계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2258568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157984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전문 발송·통보가 전부 UserTask — 사람이 전문화면에서 전송 버튼을 누른다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2843784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2743200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«수신» 을 표현할 수단이 없어 폴링 루프로 그려져 있다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3429000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328416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여신신규 ↔ 여신심사 가 Call Activity 로만 연결되어 비동기 통보가 불가능하다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" y="4014216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913632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도착한 전문이 어느 건인지 매칭할 «상관키» 개념이 도면에 없다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40311" y="1664207"/>
            <a:ext cx="7393015" cy="2999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4359767" y="1810511"/>
            <a:ext cx="1228953" cy="237744"/>
          </a:xfrm>
          <a:prstGeom prst="roundRect">
            <a:avLst>
              <a:gd name="adj" fmla="val 50000"/>
            </a:avLst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TO-BE 시연 흐름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9767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4469495" y="2286000"/>
            <a:ext cx="228600" cy="228600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2103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전문 송신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8639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SWIFT MT103 송금 전문 자동 발송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641774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78934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5888662" y="2286000"/>
            <a:ext cx="228600" cy="228600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270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접수번호 저장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06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응답의 전문접수번호가 변수에 저장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060941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198101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7307829" y="2286000"/>
            <a:ext cx="228600" cy="228600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0437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수신 대기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6973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입금 통보(MT910)를 상관키로 대기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480109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617269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8726997" y="2286000"/>
            <a:ext cx="228600" cy="228600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19605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자동 매칭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6141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도착 전문이 상관키로 해당 건을 찾아 재개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9899276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036436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10146164" y="2286000"/>
            <a:ext cx="228600" cy="228600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38772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프로세스 간 통신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55308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여신신규 ↔ 여신심사 비동기 연결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59767" y="4023360"/>
            <a:ext cx="6954103" cy="512064"/>
          </a:xfrm>
          <a:prstGeom prst="roundRect">
            <a:avLst>
              <a:gd name="adj" fmla="val 10000"/>
            </a:avLst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06071" y="4069079"/>
            <a:ext cx="6661495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★  심사가 며칠 걸려도 여신신규는 다른 병렬 작업을 계속합니다 — 동기 호출(Call Activity)과의 결정적 차이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4791455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데모에서 직접 확인하실 것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58368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전문 발송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게이트웨이에 도달 + 접수번호가 변수에 저장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22827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422827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0570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상관키를 틀리게 보냄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0570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어떤 건도 재개되지 않음 — 오매칭 방지 확인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87287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187287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7016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이메일 통보 후 강제 롤백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7016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메일이 발송되지 않음 (트랜잭션 큐)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51747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8951747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3462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여신심사 완료 통보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3462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대기 중이던 여신신규가 자동 재개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8B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2582357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B42B"/>
                </a:solidFill>
                <a:latin typeface="Pretendard"/>
              </a:rPr>
              <a:t>시나리오 7  ·  DMN 비즈니스 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DSR 한도 40% → 30%,  프로세스를 «건드리지 않고» 바꿉니다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133856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1673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8B9AA8"/>
                </a:solidFill>
                <a:latin typeface="Pretendard"/>
              </a:rPr>
              <a:t>근거 도면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298448"/>
            <a:ext cx="1747509" cy="237744"/>
          </a:xfrm>
          <a:prstGeom prst="roundRect">
            <a:avLst>
              <a:gd name="adj" fmla="val 50000"/>
            </a:avLst>
          </a:prstGeom>
          <a:solidFill>
            <a:srgbClr val="6B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1. 여신신규_주택담보대출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1989" y="1298448"/>
            <a:ext cx="1747509" cy="237744"/>
          </a:xfrm>
          <a:prstGeom prst="roundRect">
            <a:avLst>
              <a:gd name="adj" fmla="val 50000"/>
            </a:avLst>
          </a:prstGeom>
          <a:solidFill>
            <a:srgbClr val="6B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3. 기업신용카드 신규발급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0939" y="1298448"/>
            <a:ext cx="741578" cy="237744"/>
          </a:xfrm>
          <a:prstGeom prst="roundRect">
            <a:avLst>
              <a:gd name="adj" fmla="val 50000"/>
            </a:avLst>
          </a:prstGeom>
          <a:solidFill>
            <a:srgbClr val="6B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여신심사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664207"/>
            <a:ext cx="3262487" cy="2999232"/>
          </a:xfrm>
          <a:prstGeom prst="roundRect">
            <a:avLst>
              <a:gd name="adj" fmla="val 5000"/>
            </a:avLst>
          </a:prstGeom>
          <a:solidFill>
            <a:srgbClr val="FFF7F1"/>
          </a:solidFill>
          <a:ln w="13970">
            <a:solidFill>
              <a:srgbClr val="F3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77824" y="1810511"/>
            <a:ext cx="1096365" cy="237744"/>
          </a:xfrm>
          <a:prstGeom prst="roundRect">
            <a:avLst>
              <a:gd name="adj" fmla="val 50000"/>
            </a:avLst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AS-IS 의 한계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2258568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157984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본부승인대상여부 게이트웨이에 조건식이 없고 Y/N 플로우 «이름» 만 있다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2843784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2743200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금리 매트릭스가 별도 엑셀·화면에 흩어져 있다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3429000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328416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우대금리 0.1% 조정에도 프로세스 버전을 올려 재배포해야 한다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" y="4014216"/>
            <a:ext cx="68580" cy="68580"/>
          </a:xfrm>
          <a:prstGeom prst="ellipse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913632"/>
            <a:ext cx="26041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«왜 부결됐나» 에 답할 데이터가 남지 않는다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40311" y="1664207"/>
            <a:ext cx="7393015" cy="2999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4359767" y="1810511"/>
            <a:ext cx="1228953" cy="237744"/>
          </a:xfrm>
          <a:prstGeom prst="roundRect">
            <a:avLst>
              <a:gd name="adj" fmla="val 50000"/>
            </a:avLst>
          </a:prstGeom>
          <a:solidFill>
            <a:srgbClr val="E8B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retendard"/>
              </a:rPr>
              <a:t>TO-BE 시연 흐름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9767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4469495" y="2286000"/>
            <a:ext cx="228600" cy="228600"/>
          </a:xfrm>
          <a:prstGeom prst="ellipse">
            <a:avLst/>
          </a:prstGeom>
          <a:solidFill>
            <a:srgbClr val="E8B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2103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입력 수집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8639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신용등급·소득·부채·LTV 가 변수에 채워짐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641774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78934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5888662" y="2286000"/>
            <a:ext cx="228600" cy="228600"/>
          </a:xfrm>
          <a:prstGeom prst="ellipse">
            <a:avLst/>
          </a:prstGeom>
          <a:solidFill>
            <a:srgbClr val="E8B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270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규칙 호출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06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DMN 결정표가 판정과 사유를 반환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060941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198101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7307829" y="2286000"/>
            <a:ext cx="228600" cy="228600"/>
          </a:xfrm>
          <a:prstGeom prst="ellipse">
            <a:avLst/>
          </a:prstGeom>
          <a:solidFill>
            <a:srgbClr val="E8B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0437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자동 분기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6973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APPROVE / MANUAL / REJECT 로 게이트웨이 분기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480109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617269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8726997" y="2286000"/>
            <a:ext cx="228600" cy="228600"/>
          </a:xfrm>
          <a:prstGeom prst="ellipse">
            <a:avLst/>
          </a:prstGeom>
          <a:solidFill>
            <a:srgbClr val="E8B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19605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규칙만 수정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6141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DSR 한도 표를 40 → 30 으로 고치고 저장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9899276" y="2980944"/>
            <a:ext cx="132588" cy="146304"/>
          </a:xfrm>
          <a:prstGeom prst="rightArrow">
            <a:avLst/>
          </a:prstGeom>
          <a:solidFill>
            <a:srgbClr val="C0D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036436" y="2176272"/>
            <a:ext cx="1277435" cy="1755648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3970">
            <a:solidFill>
              <a:srgbClr val="DF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10146164" y="2286000"/>
            <a:ext cx="228600" cy="228600"/>
          </a:xfrm>
          <a:prstGeom prst="ellipse">
            <a:avLst/>
          </a:prstGeom>
          <a:solidFill>
            <a:srgbClr val="E8B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38772" y="2276856"/>
            <a:ext cx="7653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즉시 적용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55308" y="2724911"/>
            <a:ext cx="1039691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재배포 없이 새 건부터 새 기준 적용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59767" y="4023360"/>
            <a:ext cx="6954103" cy="512064"/>
          </a:xfrm>
          <a:prstGeom prst="roundRect">
            <a:avLst>
              <a:gd name="adj" fmla="val 10000"/>
            </a:avLst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06071" y="4069079"/>
            <a:ext cx="6661495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★  «규칙 변경 = 프로세스 재배포» 를 깨는 장면입니다 — 현업 담당자가 규칙표를 직접 고칩니다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4791455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데모에서 직접 확인하실 것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58368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신용 2등급 · DSR 35%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APPROVE 로 자동 진행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22827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422827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0570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DSR 45%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0570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REJECT + 사유 «DSR 한도 초과» 기록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87287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187287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7016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룰 파일만 수정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7016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프로세스 재배포 없이 새 인스턴스부터 즉시 적용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51747" y="5084064"/>
            <a:ext cx="2581579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8951747" y="5084064"/>
            <a:ext cx="45720" cy="8412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34627" y="5175503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80" b="1">
                <a:solidFill>
                  <a:srgbClr val="0A2A53"/>
                </a:solidFill>
                <a:latin typeface="Pretendard"/>
              </a:rPr>
              <a:t>인스턴스 상세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34627" y="5431536"/>
            <a:ext cx="22158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>
                <a:solidFill>
                  <a:srgbClr val="5A6B7D"/>
                </a:solidFill>
                <a:latin typeface="Pretendard"/>
              </a:rPr>
              <a:t>판정 입력값·결과·사유가 남아 부결 사유 설명 가능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2112629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60AE"/>
                </a:solidFill>
                <a:latin typeface="Pretendard"/>
              </a:rPr>
              <a:t>시나리오 8  ·  통합 데모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여신신규(주택담보대출) To-Be — 7개 기능을 한 흐름에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규칙이 심사하고(DMN) · 봇이 조회하고(RPA) · DB를 읽고 쓰고(SQL) · 위원회가 병렬 심의하고(MI) · 전문을 주고받으며(Message) · 기한을 넘기면 상신하고(Event) · 부결되면 되돌립니다(Compensation).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64792"/>
            <a:ext cx="219456" cy="219456"/>
          </a:xfrm>
          <a:prstGeom prst="roundRect">
            <a:avLst>
              <a:gd name="adj" fmla="val 30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retendard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77393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SQL Task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02536" y="1764792"/>
            <a:ext cx="219456" cy="219456"/>
          </a:xfrm>
          <a:prstGeom prst="roundRect">
            <a:avLst>
              <a:gd name="adj" fmla="val 30000"/>
            </a:avLst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retendard"/>
              </a:rPr>
              <a:t>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6856" y="177393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RPA Task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6704" y="1764792"/>
            <a:ext cx="219456" cy="219456"/>
          </a:xfrm>
          <a:prstGeom prst="roundRect">
            <a:avLst>
              <a:gd name="adj" fmla="val 30000"/>
            </a:avLst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retendard"/>
              </a:rP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177393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Message 송·수신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1768" y="1764792"/>
            <a:ext cx="219456" cy="219456"/>
          </a:xfrm>
          <a:prstGeom prst="roundRect">
            <a:avLst>
              <a:gd name="adj" fmla="val 30000"/>
            </a:avLst>
          </a:prstGeom>
          <a:solidFill>
            <a:srgbClr val="E8B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retendard"/>
              </a:rPr>
              <a:t>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177393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DMN 규칙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764792"/>
            <a:ext cx="219456" cy="219456"/>
          </a:xfrm>
          <a:prstGeom prst="roundRect">
            <a:avLst>
              <a:gd name="adj" fmla="val 30000"/>
            </a:avLst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retendard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177393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Compensation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45552" y="1764792"/>
            <a:ext cx="219456" cy="219456"/>
          </a:xfrm>
          <a:prstGeom prst="roundRect">
            <a:avLst>
              <a:gd name="adj" fmla="val 30000"/>
            </a:avLst>
          </a:prstGeom>
          <a:solidFill>
            <a:srgbClr val="7A5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retendard"/>
              </a:rPr>
              <a:t>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177393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Event / Timer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148840"/>
            <a:ext cx="960120" cy="566928"/>
          </a:xfrm>
          <a:prstGeom prst="roundRect">
            <a:avLst>
              <a:gd name="adj" fmla="val 12000"/>
            </a:avLst>
          </a:prstGeom>
          <a:solidFill>
            <a:srgbClr val="E9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3232" y="2276856"/>
            <a:ext cx="850392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접수 · 조회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64792" y="2148840"/>
            <a:ext cx="1763511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819656" y="2295144"/>
            <a:ext cx="16537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0">
                <a:solidFill>
                  <a:srgbClr val="1B2A3A"/>
                </a:solidFill>
                <a:latin typeface="Pretendard"/>
              </a:rPr>
              <a:t>여신 신청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555735" y="2368296"/>
            <a:ext cx="182880" cy="128016"/>
          </a:xfrm>
          <a:prstGeom prst="rightArrow">
            <a:avLst/>
          </a:prstGeom>
          <a:solidFill>
            <a:srgbClr val="BD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766047" y="2148840"/>
            <a:ext cx="1763511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820911" y="2295144"/>
            <a:ext cx="16537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0">
                <a:solidFill>
                  <a:srgbClr val="1B2A3A"/>
                </a:solidFill>
                <a:latin typeface="Pretendard"/>
              </a:rPr>
              <a:t>필요서류 징구 · 스캔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556991" y="2368296"/>
            <a:ext cx="182880" cy="128016"/>
          </a:xfrm>
          <a:prstGeom prst="rightArrow">
            <a:avLst/>
          </a:prstGeom>
          <a:solidFill>
            <a:srgbClr val="BD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67303" y="2148840"/>
            <a:ext cx="1763511" cy="566928"/>
          </a:xfrm>
          <a:prstGeom prst="roundRect">
            <a:avLst>
              <a:gd name="adj" fmla="val 10000"/>
            </a:avLst>
          </a:prstGeom>
          <a:solidFill>
            <a:srgbClr val="E0F5F4"/>
          </a:solidFill>
          <a:ln w="13970">
            <a:solidFill>
              <a:srgbClr val="00B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840455" y="2185416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00B3A4"/>
                </a:solidFill>
                <a:latin typeface="Pretendard"/>
              </a:rPr>
              <a:t>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22167" y="2295144"/>
            <a:ext cx="16537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A2A53"/>
                </a:solidFill>
                <a:latin typeface="Pretendard"/>
              </a:rPr>
              <a:t>고객 거래정보 조회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558247" y="2368296"/>
            <a:ext cx="182880" cy="128016"/>
          </a:xfrm>
          <a:prstGeom prst="rightArrow">
            <a:avLst/>
          </a:prstGeom>
          <a:solidFill>
            <a:srgbClr val="BD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68559" y="2148840"/>
            <a:ext cx="1763511" cy="566928"/>
          </a:xfrm>
          <a:prstGeom prst="roundRect">
            <a:avLst>
              <a:gd name="adj" fmla="val 10000"/>
            </a:avLst>
          </a:prstGeom>
          <a:solidFill>
            <a:srgbClr val="E0F3F9"/>
          </a:solidFill>
          <a:ln w="13970">
            <a:solidFill>
              <a:srgbClr val="00A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841711" y="2185416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00A0D2"/>
                </a:solidFill>
                <a:latin typeface="Pretendard"/>
              </a:rPr>
              <a:t>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23423" y="2295144"/>
            <a:ext cx="16537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A2A53"/>
                </a:solidFill>
                <a:latin typeface="Pretendard"/>
              </a:rPr>
              <a:t>공공마이데이터 등록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559503" y="2368296"/>
            <a:ext cx="182880" cy="128016"/>
          </a:xfrm>
          <a:prstGeom prst="rightArrow">
            <a:avLst/>
          </a:prstGeom>
          <a:solidFill>
            <a:srgbClr val="BD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69815" y="2148840"/>
            <a:ext cx="1763511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824679" y="2295144"/>
            <a:ext cx="16537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0">
                <a:solidFill>
                  <a:srgbClr val="1B2A3A"/>
                </a:solidFill>
                <a:latin typeface="Pretendard"/>
              </a:rPr>
              <a:t>개인신용정보 동의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709928" y="2852928"/>
            <a:ext cx="9878263" cy="658368"/>
          </a:xfrm>
          <a:prstGeom prst="roundRect">
            <a:avLst>
              <a:gd name="adj" fmla="val 6000"/>
            </a:avLst>
          </a:prstGeom>
          <a:noFill/>
          <a:ln w="13970">
            <a:solidFill>
              <a:srgbClr val="9B7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607247" y="2660904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7A5AC6"/>
                </a:solidFill>
                <a:latin typeface="Pretendard"/>
              </a:rPr>
              <a:t>●  Multi-Instance · 담보물건 건수만큼 반복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2898648"/>
            <a:ext cx="960120" cy="566928"/>
          </a:xfrm>
          <a:prstGeom prst="roundRect">
            <a:avLst>
              <a:gd name="adj" fmla="val 12000"/>
            </a:avLst>
          </a:prstGeom>
          <a:solidFill>
            <a:srgbClr val="E9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13232" y="3026664"/>
            <a:ext cx="850392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담보 평가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764792" y="2898648"/>
            <a:ext cx="1763511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819656" y="3044952"/>
            <a:ext cx="16537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0">
                <a:solidFill>
                  <a:srgbClr val="1B2A3A"/>
                </a:solidFill>
                <a:latin typeface="Pretendard"/>
              </a:rPr>
              <a:t>담보물건 등록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3555735" y="3118104"/>
            <a:ext cx="182880" cy="128016"/>
          </a:xfrm>
          <a:prstGeom prst="rightArrow">
            <a:avLst/>
          </a:prstGeom>
          <a:solidFill>
            <a:srgbClr val="BD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766047" y="2898648"/>
            <a:ext cx="1763511" cy="566928"/>
          </a:xfrm>
          <a:prstGeom prst="roundRect">
            <a:avLst>
              <a:gd name="adj" fmla="val 10000"/>
            </a:avLst>
          </a:prstGeom>
          <a:solidFill>
            <a:srgbClr val="E0F3F9"/>
          </a:solidFill>
          <a:ln w="13970">
            <a:solidFill>
              <a:srgbClr val="00A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839199" y="293522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00A0D2"/>
                </a:solidFill>
                <a:latin typeface="Pretendard"/>
              </a:rPr>
              <a:t>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20911" y="3044952"/>
            <a:ext cx="16537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A2A53"/>
                </a:solidFill>
                <a:latin typeface="Pretendard"/>
              </a:rPr>
              <a:t>KB/국토부 시세조회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5556991" y="3118104"/>
            <a:ext cx="182880" cy="128016"/>
          </a:xfrm>
          <a:prstGeom prst="rightArrow">
            <a:avLst/>
          </a:prstGeom>
          <a:solidFill>
            <a:srgbClr val="BD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767303" y="2898648"/>
            <a:ext cx="1763511" cy="566928"/>
          </a:xfrm>
          <a:prstGeom prst="roundRect">
            <a:avLst>
              <a:gd name="adj" fmla="val 10000"/>
            </a:avLst>
          </a:prstGeom>
          <a:solidFill>
            <a:srgbClr val="E0EBF5"/>
          </a:solidFill>
          <a:ln w="13970">
            <a:solidFill>
              <a:srgbClr val="006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840455" y="293522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0060AE"/>
                </a:solidFill>
                <a:latin typeface="Pretendard"/>
              </a:rPr>
              <a:t>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22167" y="3044952"/>
            <a:ext cx="16537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A2A53"/>
                </a:solidFill>
                <a:latin typeface="Pretendard"/>
              </a:rPr>
              <a:t>외부 감정평가 의뢰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7558247" y="3118104"/>
            <a:ext cx="182880" cy="128016"/>
          </a:xfrm>
          <a:prstGeom prst="rightArrow">
            <a:avLst/>
          </a:prstGeom>
          <a:solidFill>
            <a:srgbClr val="BD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768559" y="2898648"/>
            <a:ext cx="1763511" cy="566928"/>
          </a:xfrm>
          <a:prstGeom prst="roundRect">
            <a:avLst>
              <a:gd name="adj" fmla="val 10000"/>
            </a:avLst>
          </a:prstGeom>
          <a:solidFill>
            <a:srgbClr val="E0EBF5"/>
          </a:solidFill>
          <a:ln w="13970">
            <a:solidFill>
              <a:srgbClr val="006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841711" y="293522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0060AE"/>
                </a:solidFill>
                <a:latin typeface="Pretendard"/>
              </a:rPr>
              <a:t>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23423" y="3044952"/>
            <a:ext cx="16537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A2A53"/>
                </a:solidFill>
                <a:latin typeface="Pretendard"/>
              </a:rPr>
              <a:t>감정 회신 수신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9559503" y="3118104"/>
            <a:ext cx="182880" cy="128016"/>
          </a:xfrm>
          <a:prstGeom prst="rightArrow">
            <a:avLst/>
          </a:prstGeom>
          <a:solidFill>
            <a:srgbClr val="BD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769815" y="2898648"/>
            <a:ext cx="1763511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824679" y="3044952"/>
            <a:ext cx="16537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0">
                <a:solidFill>
                  <a:srgbClr val="1B2A3A"/>
                </a:solidFill>
                <a:latin typeface="Pretendard"/>
              </a:rPr>
              <a:t>담보가액 산출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368" y="3739896"/>
            <a:ext cx="960120" cy="566928"/>
          </a:xfrm>
          <a:prstGeom prst="roundRect">
            <a:avLst>
              <a:gd name="adj" fmla="val 12000"/>
            </a:avLst>
          </a:prstGeom>
          <a:solidFill>
            <a:srgbClr val="E9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13232" y="3867911"/>
            <a:ext cx="850392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심사 · 판정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764792" y="3739896"/>
            <a:ext cx="1763511" cy="566928"/>
          </a:xfrm>
          <a:prstGeom prst="roundRect">
            <a:avLst>
              <a:gd name="adj" fmla="val 10000"/>
            </a:avLst>
          </a:prstGeom>
          <a:solidFill>
            <a:srgbClr val="FCF6E5"/>
          </a:solidFill>
          <a:ln w="13970">
            <a:solidFill>
              <a:srgbClr val="E8B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837943" y="377647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E8B42B"/>
                </a:solidFill>
                <a:latin typeface="Pretendard"/>
              </a:rPr>
              <a:t>◇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19656" y="3886200"/>
            <a:ext cx="16537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A2A53"/>
                </a:solidFill>
                <a:latin typeface="Pretendard"/>
              </a:rPr>
              <a:t>대출가능금액 LTV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3555735" y="3959351"/>
            <a:ext cx="182880" cy="128016"/>
          </a:xfrm>
          <a:prstGeom prst="rightArrow">
            <a:avLst/>
          </a:prstGeom>
          <a:solidFill>
            <a:srgbClr val="BD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766047" y="3739896"/>
            <a:ext cx="1763511" cy="566928"/>
          </a:xfrm>
          <a:prstGeom prst="roundRect">
            <a:avLst>
              <a:gd name="adj" fmla="val 10000"/>
            </a:avLst>
          </a:prstGeom>
          <a:solidFill>
            <a:srgbClr val="FCF6E5"/>
          </a:solidFill>
          <a:ln w="13970">
            <a:solidFill>
              <a:srgbClr val="E8B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3839199" y="377647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E8B42B"/>
                </a:solidFill>
                <a:latin typeface="Pretendard"/>
              </a:rPr>
              <a:t>◇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20911" y="3886200"/>
            <a:ext cx="16537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A2A53"/>
                </a:solidFill>
                <a:latin typeface="Pretendard"/>
              </a:rPr>
              <a:t>DTI / DSR 산출</a:t>
            </a:r>
          </a:p>
        </p:txBody>
      </p:sp>
      <p:sp>
        <p:nvSpPr>
          <p:cNvPr id="70" name="Right Arrow 69"/>
          <p:cNvSpPr/>
          <p:nvPr/>
        </p:nvSpPr>
        <p:spPr>
          <a:xfrm>
            <a:off x="5556991" y="3959351"/>
            <a:ext cx="182880" cy="128016"/>
          </a:xfrm>
          <a:prstGeom prst="rightArrow">
            <a:avLst/>
          </a:prstGeom>
          <a:solidFill>
            <a:srgbClr val="BD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767303" y="3739896"/>
            <a:ext cx="1763511" cy="566928"/>
          </a:xfrm>
          <a:prstGeom prst="roundRect">
            <a:avLst>
              <a:gd name="adj" fmla="val 10000"/>
            </a:avLst>
          </a:prstGeom>
          <a:solidFill>
            <a:srgbClr val="FCF6E5"/>
          </a:solidFill>
          <a:ln w="13970">
            <a:solidFill>
              <a:srgbClr val="E8B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5840455" y="377647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E8B42B"/>
                </a:solidFill>
                <a:latin typeface="Pretendard"/>
              </a:rPr>
              <a:t>◇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22167" y="3886200"/>
            <a:ext cx="16537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A2A53"/>
                </a:solidFill>
                <a:latin typeface="Pretendard"/>
              </a:rPr>
              <a:t>시스템 심사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7558247" y="3959351"/>
            <a:ext cx="182880" cy="128016"/>
          </a:xfrm>
          <a:prstGeom prst="rightArrow">
            <a:avLst/>
          </a:prstGeom>
          <a:solidFill>
            <a:srgbClr val="BD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768559" y="3739896"/>
            <a:ext cx="1763511" cy="566928"/>
          </a:xfrm>
          <a:prstGeom prst="roundRect">
            <a:avLst>
              <a:gd name="adj" fmla="val 10000"/>
            </a:avLst>
          </a:prstGeom>
          <a:solidFill>
            <a:srgbClr val="E0EBF5"/>
          </a:solidFill>
          <a:ln w="13970">
            <a:solidFill>
              <a:srgbClr val="006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7841711" y="377647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0060AE"/>
                </a:solidFill>
                <a:latin typeface="Pretendard"/>
              </a:rPr>
              <a:t>★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23423" y="3886200"/>
            <a:ext cx="16537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A2A53"/>
                </a:solidFill>
                <a:latin typeface="Pretendard"/>
              </a:rPr>
              <a:t>여신심사 요청 · 결과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9559503" y="3959351"/>
            <a:ext cx="182880" cy="128016"/>
          </a:xfrm>
          <a:prstGeom prst="rightArrow">
            <a:avLst/>
          </a:prstGeom>
          <a:solidFill>
            <a:srgbClr val="BD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9769815" y="3739896"/>
            <a:ext cx="1763511" cy="566928"/>
          </a:xfrm>
          <a:prstGeom prst="roundRect">
            <a:avLst>
              <a:gd name="adj" fmla="val 10000"/>
            </a:avLst>
          </a:prstGeom>
          <a:solidFill>
            <a:srgbClr val="FCF6E5"/>
          </a:solidFill>
          <a:ln w="13970">
            <a:solidFill>
              <a:srgbClr val="E8B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9842967" y="377647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E8B42B"/>
                </a:solidFill>
                <a:latin typeface="Pretendard"/>
              </a:rPr>
              <a:t>◇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24679" y="3886200"/>
            <a:ext cx="16537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A2A53"/>
                </a:solidFill>
                <a:latin typeface="Pretendard"/>
              </a:rPr>
              <a:t>금리 · 우대 · 결재권한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58368" y="4489704"/>
            <a:ext cx="960120" cy="566928"/>
          </a:xfrm>
          <a:prstGeom prst="roundRect">
            <a:avLst>
              <a:gd name="adj" fmla="val 12000"/>
            </a:avLst>
          </a:prstGeom>
          <a:solidFill>
            <a:srgbClr val="E9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713232" y="4617720"/>
            <a:ext cx="850392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0A2A53"/>
                </a:solidFill>
                <a:latin typeface="Pretendard"/>
              </a:rPr>
              <a:t>등록 · 실행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764792" y="4489704"/>
            <a:ext cx="1429969" cy="566928"/>
          </a:xfrm>
          <a:prstGeom prst="roundRect">
            <a:avLst>
              <a:gd name="adj" fmla="val 10000"/>
            </a:avLst>
          </a:prstGeom>
          <a:solidFill>
            <a:srgbClr val="E0F5F4"/>
          </a:solidFill>
          <a:ln w="13970">
            <a:solidFill>
              <a:srgbClr val="00B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1837943" y="452628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00B3A4"/>
                </a:solidFill>
                <a:latin typeface="Pretendard"/>
              </a:rPr>
              <a:t>■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19656" y="4636008"/>
            <a:ext cx="13202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A2A53"/>
                </a:solidFill>
                <a:latin typeface="Pretendard"/>
              </a:rPr>
              <a:t>여신·담보 예정등록</a:t>
            </a:r>
          </a:p>
        </p:txBody>
      </p:sp>
      <p:sp>
        <p:nvSpPr>
          <p:cNvPr id="87" name="Right Arrow 86"/>
          <p:cNvSpPr/>
          <p:nvPr/>
        </p:nvSpPr>
        <p:spPr>
          <a:xfrm>
            <a:off x="3222193" y="4709159"/>
            <a:ext cx="182880" cy="128016"/>
          </a:xfrm>
          <a:prstGeom prst="rightArrow">
            <a:avLst/>
          </a:prstGeom>
          <a:solidFill>
            <a:srgbClr val="BD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3432505" y="4489704"/>
            <a:ext cx="1429969" cy="566928"/>
          </a:xfrm>
          <a:prstGeom prst="roundRect">
            <a:avLst>
              <a:gd name="adj" fmla="val 10000"/>
            </a:avLst>
          </a:prstGeom>
          <a:solidFill>
            <a:srgbClr val="E0EBF5"/>
          </a:solidFill>
          <a:ln w="13970">
            <a:solidFill>
              <a:srgbClr val="006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3505657" y="452628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0060AE"/>
                </a:solidFill>
                <a:latin typeface="Pretendard"/>
              </a:rPr>
              <a:t>★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87369" y="4636008"/>
            <a:ext cx="13202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A2A53"/>
                </a:solidFill>
                <a:latin typeface="Pretendard"/>
              </a:rPr>
              <a:t>보증서 발급</a:t>
            </a:r>
          </a:p>
        </p:txBody>
      </p:sp>
      <p:sp>
        <p:nvSpPr>
          <p:cNvPr id="91" name="Right Arrow 90"/>
          <p:cNvSpPr/>
          <p:nvPr/>
        </p:nvSpPr>
        <p:spPr>
          <a:xfrm>
            <a:off x="4889906" y="4709159"/>
            <a:ext cx="182880" cy="128016"/>
          </a:xfrm>
          <a:prstGeom prst="rightArrow">
            <a:avLst/>
          </a:prstGeom>
          <a:solidFill>
            <a:srgbClr val="BD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5100218" y="4489704"/>
            <a:ext cx="1429969" cy="566928"/>
          </a:xfrm>
          <a:prstGeom prst="roundRect">
            <a:avLst>
              <a:gd name="adj" fmla="val 10000"/>
            </a:avLst>
          </a:prstGeom>
          <a:solidFill>
            <a:srgbClr val="E0F5F4"/>
          </a:solidFill>
          <a:ln w="13970">
            <a:solidFill>
              <a:srgbClr val="00B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5173370" y="452628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00B3A4"/>
                </a:solidFill>
                <a:latin typeface="Pretendard"/>
              </a:rPr>
              <a:t>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155082" y="4636008"/>
            <a:ext cx="13202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A2A53"/>
                </a:solidFill>
                <a:latin typeface="Pretendard"/>
              </a:rPr>
              <a:t>보증서 담보등록</a:t>
            </a:r>
          </a:p>
        </p:txBody>
      </p:sp>
      <p:sp>
        <p:nvSpPr>
          <p:cNvPr id="95" name="Right Arrow 94"/>
          <p:cNvSpPr/>
          <p:nvPr/>
        </p:nvSpPr>
        <p:spPr>
          <a:xfrm>
            <a:off x="6557619" y="4709159"/>
            <a:ext cx="182880" cy="128016"/>
          </a:xfrm>
          <a:prstGeom prst="rightArrow">
            <a:avLst/>
          </a:prstGeom>
          <a:solidFill>
            <a:srgbClr val="BD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767931" y="4489704"/>
            <a:ext cx="1429969" cy="566928"/>
          </a:xfrm>
          <a:prstGeom prst="roundRect">
            <a:avLst>
              <a:gd name="adj" fmla="val 10000"/>
            </a:avLst>
          </a:prstGeom>
          <a:solidFill>
            <a:srgbClr val="E0F5F4"/>
          </a:solidFill>
          <a:ln w="13970">
            <a:solidFill>
              <a:srgbClr val="00B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841083" y="452628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00B3A4"/>
                </a:solidFill>
                <a:latin typeface="Pretendard"/>
              </a:rPr>
              <a:t>■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22795" y="4636008"/>
            <a:ext cx="13202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A2A53"/>
                </a:solidFill>
                <a:latin typeface="Pretendard"/>
              </a:rPr>
              <a:t>약정등록</a:t>
            </a:r>
          </a:p>
        </p:txBody>
      </p:sp>
      <p:sp>
        <p:nvSpPr>
          <p:cNvPr id="99" name="Right Arrow 98"/>
          <p:cNvSpPr/>
          <p:nvPr/>
        </p:nvSpPr>
        <p:spPr>
          <a:xfrm>
            <a:off x="8225332" y="4709159"/>
            <a:ext cx="182880" cy="128016"/>
          </a:xfrm>
          <a:prstGeom prst="rightArrow">
            <a:avLst/>
          </a:prstGeom>
          <a:solidFill>
            <a:srgbClr val="BD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8435644" y="4489704"/>
            <a:ext cx="1429969" cy="566928"/>
          </a:xfrm>
          <a:prstGeom prst="roundRect">
            <a:avLst>
              <a:gd name="adj" fmla="val 10000"/>
            </a:avLst>
          </a:prstGeom>
          <a:solidFill>
            <a:srgbClr val="E0F3F9"/>
          </a:solidFill>
          <a:ln w="13970">
            <a:solidFill>
              <a:srgbClr val="00A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8508796" y="452628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00A0D2"/>
                </a:solidFill>
                <a:latin typeface="Pretendard"/>
              </a:rPr>
              <a:t>▲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90508" y="4636008"/>
            <a:ext cx="13202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A2A53"/>
                </a:solidFill>
                <a:latin typeface="Pretendard"/>
              </a:rPr>
              <a:t>부동산 등기 확인</a:t>
            </a:r>
          </a:p>
        </p:txBody>
      </p:sp>
      <p:sp>
        <p:nvSpPr>
          <p:cNvPr id="103" name="Right Arrow 102"/>
          <p:cNvSpPr/>
          <p:nvPr/>
        </p:nvSpPr>
        <p:spPr>
          <a:xfrm>
            <a:off x="9893046" y="4709159"/>
            <a:ext cx="182880" cy="128016"/>
          </a:xfrm>
          <a:prstGeom prst="rightArrow">
            <a:avLst/>
          </a:prstGeom>
          <a:solidFill>
            <a:srgbClr val="BD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10103358" y="4489704"/>
            <a:ext cx="1429969" cy="566928"/>
          </a:xfrm>
          <a:prstGeom prst="roundRect">
            <a:avLst>
              <a:gd name="adj" fmla="val 10000"/>
            </a:avLst>
          </a:prstGeom>
          <a:solidFill>
            <a:srgbClr val="E0F5F4"/>
          </a:solidFill>
          <a:ln w="13970">
            <a:solidFill>
              <a:srgbClr val="00B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10176510" y="452628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00B3A4"/>
                </a:solidFill>
                <a:latin typeface="Pretendard"/>
              </a:rPr>
              <a:t>■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158222" y="4636008"/>
            <a:ext cx="13202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A2A53"/>
                </a:solidFill>
                <a:latin typeface="Pretendard"/>
              </a:rPr>
              <a:t>여신실행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58368" y="5202936"/>
            <a:ext cx="10874959" cy="548640"/>
          </a:xfrm>
          <a:prstGeom prst="roundRect">
            <a:avLst>
              <a:gd name="adj" fmla="val 6000"/>
            </a:avLst>
          </a:prstGeom>
          <a:solidFill>
            <a:srgbClr val="FFF5EC"/>
          </a:solidFill>
          <a:ln w="13970">
            <a:solidFill>
              <a:srgbClr val="F3D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822959" y="5349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F37B21"/>
                </a:solidFill>
                <a:latin typeface="Pretendard"/>
              </a:rPr>
              <a:t>◆  부결 · 등기 불일치 시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310128" y="5294376"/>
            <a:ext cx="1483705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F37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3346704" y="5376672"/>
            <a:ext cx="141055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F37B21"/>
                </a:solidFill>
                <a:latin typeface="Pretendard"/>
              </a:rPr>
              <a:t>약정 취소</a:t>
            </a:r>
          </a:p>
        </p:txBody>
      </p:sp>
      <p:sp>
        <p:nvSpPr>
          <p:cNvPr id="111" name="Left Arrow 110"/>
          <p:cNvSpPr/>
          <p:nvPr/>
        </p:nvSpPr>
        <p:spPr>
          <a:xfrm>
            <a:off x="4812121" y="5413248"/>
            <a:ext cx="164592" cy="128016"/>
          </a:xfrm>
          <a:prstGeom prst="leftArrow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4995001" y="5294376"/>
            <a:ext cx="1483705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F37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031577" y="5376672"/>
            <a:ext cx="141055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F37B21"/>
                </a:solidFill>
                <a:latin typeface="Pretendard"/>
              </a:rPr>
              <a:t>여신 담보 연결 해제</a:t>
            </a:r>
          </a:p>
        </p:txBody>
      </p:sp>
      <p:sp>
        <p:nvSpPr>
          <p:cNvPr id="114" name="Left Arrow 113"/>
          <p:cNvSpPr/>
          <p:nvPr/>
        </p:nvSpPr>
        <p:spPr>
          <a:xfrm>
            <a:off x="6496994" y="5413248"/>
            <a:ext cx="164592" cy="128016"/>
          </a:xfrm>
          <a:prstGeom prst="leftArrow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6679874" y="5294376"/>
            <a:ext cx="1483705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F37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6716450" y="5376672"/>
            <a:ext cx="141055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F37B21"/>
                </a:solidFill>
                <a:latin typeface="Pretendard"/>
              </a:rPr>
              <a:t>보증서 담보등록 해제</a:t>
            </a:r>
          </a:p>
        </p:txBody>
      </p:sp>
      <p:sp>
        <p:nvSpPr>
          <p:cNvPr id="117" name="Left Arrow 116"/>
          <p:cNvSpPr/>
          <p:nvPr/>
        </p:nvSpPr>
        <p:spPr>
          <a:xfrm>
            <a:off x="8181868" y="5413248"/>
            <a:ext cx="164592" cy="128016"/>
          </a:xfrm>
          <a:prstGeom prst="leftArrow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8364748" y="5294376"/>
            <a:ext cx="1483705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F37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01324" y="5376672"/>
            <a:ext cx="141055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F37B21"/>
                </a:solidFill>
                <a:latin typeface="Pretendard"/>
              </a:rPr>
              <a:t>보증서 반환 요청</a:t>
            </a:r>
          </a:p>
        </p:txBody>
      </p:sp>
      <p:sp>
        <p:nvSpPr>
          <p:cNvPr id="120" name="Left Arrow 119"/>
          <p:cNvSpPr/>
          <p:nvPr/>
        </p:nvSpPr>
        <p:spPr>
          <a:xfrm>
            <a:off x="9866741" y="5413248"/>
            <a:ext cx="164592" cy="128016"/>
          </a:xfrm>
          <a:prstGeom prst="leftArrow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10049621" y="5294376"/>
            <a:ext cx="1483705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F37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10086197" y="5376672"/>
            <a:ext cx="141055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F37B21"/>
                </a:solidFill>
                <a:latin typeface="Pretendard"/>
              </a:rPr>
              <a:t>예정등록 취소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58368" y="5879592"/>
            <a:ext cx="10874959" cy="45720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3970">
            <a:solidFill>
              <a:srgbClr val="DAC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822959" y="59893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7A5AC6"/>
                </a:solidFill>
                <a:latin typeface="Pretendard"/>
              </a:rPr>
              <a:t>◎  상시 감시 (Event SubProcess)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10128" y="6007608"/>
            <a:ext cx="19323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80" b="0">
                <a:solidFill>
                  <a:srgbClr val="5A4592"/>
                </a:solidFill>
                <a:latin typeface="Pretendard"/>
              </a:rPr>
              <a:t>· 고객 철회 → 전체 보상 후 중단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407075" y="6007608"/>
            <a:ext cx="19323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80" b="0">
                <a:solidFill>
                  <a:srgbClr val="5A4592"/>
                </a:solidFill>
                <a:latin typeface="Pretendard"/>
              </a:rPr>
              <a:t>· 서류보완 D+3 알림 · D+7 상신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504023" y="6007608"/>
            <a:ext cx="19323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80" b="0">
                <a:solidFill>
                  <a:srgbClr val="5A4592"/>
                </a:solidFill>
                <a:latin typeface="Pretendard"/>
              </a:rPr>
              <a:t>· 연동 오류 → 수기 심사 우회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600971" y="6007608"/>
            <a:ext cx="19323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80" b="0">
                <a:solidFill>
                  <a:srgbClr val="5A4592"/>
                </a:solidFill>
                <a:latin typeface="Pretendard"/>
              </a:rPr>
              <a:t>· 감정 회신 지연 → 재촉·교체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708477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60AE"/>
                </a:solidFill>
                <a:latin typeface="Pretendard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권장 시연 순서 (30분)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시간이 부족하면 아래 «축소안» 순으로 줄이되, 12번 «자동 되돌림» 은 남기시길 권합니다.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123098" cy="290230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1783080"/>
            <a:ext cx="322911" cy="290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8751" y="1783080"/>
            <a:ext cx="3396329" cy="290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</a:rPr>
              <a:t>시연 내용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4537" y="1783080"/>
            <a:ext cx="2094646" cy="290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</a:rPr>
              <a:t>보여 드릴 화면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8640" y="1783080"/>
            <a:ext cx="431385" cy="290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</a:rPr>
              <a:t>소요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073310"/>
            <a:ext cx="32291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8751" y="2073310"/>
            <a:ext cx="339632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As-Is 도면 열기 — «전부 UserTask 와 분기뿐»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4537" y="2073310"/>
            <a:ext cx="2094646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모델러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8640" y="2073310"/>
            <a:ext cx="431385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2분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2073310"/>
            <a:ext cx="7123098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58368" y="2388778"/>
            <a:ext cx="7123098" cy="315468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86384" y="2388778"/>
            <a:ext cx="32291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8751" y="2388778"/>
            <a:ext cx="339632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To-Be 도면 열기 — 요소 타입 색상 대비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44537" y="2388778"/>
            <a:ext cx="2094646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모델러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8640" y="2388778"/>
            <a:ext cx="431385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2분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2388778"/>
            <a:ext cx="7123098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6384" y="2704246"/>
            <a:ext cx="32291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8751" y="2704246"/>
            <a:ext cx="339632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정상 건 실행 : 신용 2등급 · DSR 35%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4537" y="2704246"/>
            <a:ext cx="2094646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인스턴스 모니터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8640" y="2704246"/>
            <a:ext cx="431385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5분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2704246"/>
            <a:ext cx="7123098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58368" y="3019714"/>
            <a:ext cx="7123098" cy="315468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86384" y="3019714"/>
            <a:ext cx="32291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8751" y="3019714"/>
            <a:ext cx="339632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└ SQL Task 결과가 프로세스 변수에 채워짐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44537" y="3019714"/>
            <a:ext cx="2094646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인스턴스 변수 + 실행된 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8640" y="3019714"/>
            <a:ext cx="431385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—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8368" y="3019714"/>
            <a:ext cx="7123098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86384" y="3335182"/>
            <a:ext cx="32291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8751" y="3335182"/>
            <a:ext cx="339632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└ RPA 명령 발행 → 봇 콜백 → 시세 반영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44537" y="3335182"/>
            <a:ext cx="2094646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메시지 콘솔 + 인스턴스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8640" y="3335182"/>
            <a:ext cx="431385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—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8368" y="3335182"/>
            <a:ext cx="7123098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58368" y="3650650"/>
            <a:ext cx="7123098" cy="315468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86384" y="3650650"/>
            <a:ext cx="32291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8751" y="3650650"/>
            <a:ext cx="339632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└ DMN 판정 결과와 «사유» 확인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44537" y="3650650"/>
            <a:ext cx="2094646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인스턴스 변수 (판정 사유)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58640" y="3650650"/>
            <a:ext cx="431385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—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8368" y="3650650"/>
            <a:ext cx="7123098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86384" y="3966118"/>
            <a:ext cx="32291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8751" y="3966118"/>
            <a:ext cx="339632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규칙 무중단 변경 : DSR 40 → 30 후 재실행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44537" y="3966118"/>
            <a:ext cx="2094646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룰 편집 화면 → 새 인스턴스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58640" y="3966118"/>
            <a:ext cx="431385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4분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58368" y="3966118"/>
            <a:ext cx="7123098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658368" y="4281586"/>
            <a:ext cx="7123098" cy="315468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6384" y="4281586"/>
            <a:ext cx="32291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28751" y="4281586"/>
            <a:ext cx="339632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고액 건 실행 → 여신심사 프로세스 자동 기동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44537" y="4281586"/>
            <a:ext cx="2094646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프로세스 2개 동시 모니터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58640" y="4281586"/>
            <a:ext cx="431385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5분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58368" y="4281586"/>
            <a:ext cx="7123098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86384" y="4597054"/>
            <a:ext cx="32291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28751" y="4597054"/>
            <a:ext cx="339632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└ 위원 5명 지정 → 서브 인스턴스 5개 생성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44537" y="4597054"/>
            <a:ext cx="2094646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인스턴스 트리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58640" y="4597054"/>
            <a:ext cx="431385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—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58368" y="4597054"/>
            <a:ext cx="7123098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658368" y="4912522"/>
            <a:ext cx="7123098" cy="315468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786384" y="4912522"/>
            <a:ext cx="32291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28751" y="4912522"/>
            <a:ext cx="339632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└ 심의 중 위원 1명 추가 → 인스턴스 1개 추가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44537" y="4912522"/>
            <a:ext cx="2094646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인스턴스 트리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58640" y="4912522"/>
            <a:ext cx="431385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—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58368" y="4912522"/>
            <a:ext cx="7123098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86384" y="5227990"/>
            <a:ext cx="32291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11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28751" y="5227990"/>
            <a:ext cx="339632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감정 회신 지연 → Timer 발화 → 재촉 전문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44537" y="5227990"/>
            <a:ext cx="2094646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이벤트 로그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58640" y="5227990"/>
            <a:ext cx="431385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3분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58368" y="5227990"/>
            <a:ext cx="7123098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658368" y="5543458"/>
            <a:ext cx="7123098" cy="315468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786384" y="5543458"/>
            <a:ext cx="32291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12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28751" y="5543458"/>
            <a:ext cx="339632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부결 처리 → 보상 자동 실행  ★ 하이라이트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44537" y="5543458"/>
            <a:ext cx="2094646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Compensated 상태 + 취소 이력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58640" y="5543458"/>
            <a:ext cx="431385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5분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58368" y="5543458"/>
            <a:ext cx="7123098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86384" y="5858926"/>
            <a:ext cx="32291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13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28751" y="5858926"/>
            <a:ext cx="339632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등기 불일치 → 약정등록 지점으로 되돌린 후 재개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44537" y="5858926"/>
            <a:ext cx="2094646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인스턴스 모니터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58640" y="5858926"/>
            <a:ext cx="431385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4분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658368" y="5858926"/>
            <a:ext cx="7123098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58368" y="6174394"/>
            <a:ext cx="7123098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7998965" y="1783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0A2A53"/>
                </a:solidFill>
                <a:latin typeface="Pretendard"/>
              </a:rPr>
              <a:t>시간이 부족할 때 — 단계적 축소안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998965" y="2148840"/>
            <a:ext cx="3534361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998965" y="2148840"/>
            <a:ext cx="50292" cy="10058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18421" y="2258568"/>
            <a:ext cx="30954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최소 · 10분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18421" y="2532888"/>
            <a:ext cx="30954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DMN + SQL Task + 게이트웨이 조건식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18421" y="2862072"/>
            <a:ext cx="30954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선행 : 선행 개발 없음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998965" y="3227832"/>
            <a:ext cx="3534361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7998965" y="3227832"/>
            <a:ext cx="50292" cy="1005840"/>
          </a:xfrm>
          <a:prstGeom prst="rect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218421" y="3337560"/>
            <a:ext cx="30954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중간 · 20분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18421" y="3611880"/>
            <a:ext cx="30954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위 + Multi-Instance + 메시지 송·수신 + Timer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18421" y="3941064"/>
            <a:ext cx="30954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선행 : 수신 엔드포인트 · 목서버 · 데모용 타이머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998965" y="4306824"/>
            <a:ext cx="3534361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7998965" y="4306824"/>
            <a:ext cx="50292" cy="100584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218421" y="4416552"/>
            <a:ext cx="30954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전체 · 30분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18421" y="4690872"/>
            <a:ext cx="30954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위 + Compensation + RPA Task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18421" y="5020056"/>
            <a:ext cx="30954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선행 : + RPA 명령 발행부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998965" y="5404103"/>
            <a:ext cx="3534361" cy="896112"/>
          </a:xfrm>
          <a:prstGeom prst="roundRect">
            <a:avLst>
              <a:gd name="adj" fmla="val 6000"/>
            </a:avLst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8236709" y="5504688"/>
            <a:ext cx="305887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Pretendard"/>
              </a:rPr>
              <a:t>Compensation 은 선행 개발 없이 시연되고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Pretendard"/>
              </a:rPr>
              <a:t>임팩트가 가장 큽니다 — 12번은 꼭 남기세요.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708477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60AE"/>
                </a:solidFill>
                <a:latin typeface="Pretendard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데모 준비 현황 — 무엇이 되어 있고, 무엇을 준비해야 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설명회 자리에서 «되는 것» 과 «준비 중인 것» 을 구분해 말씀드립니다.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10874959" cy="336499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1783080"/>
            <a:ext cx="2624764" cy="3364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604" y="1783080"/>
            <a:ext cx="2122842" cy="3364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엔진 구현 상태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2903" y="1783080"/>
            <a:ext cx="2624764" cy="3364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데모 전 준비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17123" y="1783080"/>
            <a:ext cx="2624764" cy="3364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비고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11957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Compensation (보상)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604" y="2119579"/>
            <a:ext cx="212284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동작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2903" y="211957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7123" y="211957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선행 개발 없이 즉시 시연 가능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2119579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58368" y="2485339"/>
            <a:ext cx="10874959" cy="365760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86384" y="248533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Multi-Instance (forEachRole)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604" y="2485339"/>
            <a:ext cx="212284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동작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72903" y="248533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없음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17123" y="248533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역할 다중 매핑만 설정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2485339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6384" y="285109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Multi-Instance (forEachVariable)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0604" y="2851099"/>
            <a:ext cx="212284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미구현 (스텁)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72903" y="285109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선행 구현 또는 forEachRole 로 대체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17123" y="285109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담보 건수 반복 시연 시에만 필요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2851099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58368" y="3216859"/>
            <a:ext cx="10874959" cy="365760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86384" y="321685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Event 처리 (Timer·Message·Signal·Error)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0604" y="3216859"/>
            <a:ext cx="212284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동작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72903" y="321685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데모용 타이머 단위 축소 버전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17123" y="321685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72시간 → 분 단위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8368" y="3216859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86384" y="358261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SQL Task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30604" y="3582619"/>
            <a:ext cx="212284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동작 (신규 개발 완료)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72903" y="358261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데모 스키마 · 샘플 데이터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17123" y="358261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DirectSQL / DatabaseMapping 모두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8368" y="3582619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58368" y="3948379"/>
            <a:ext cx="10874959" cy="365760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86384" y="394837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RPA Task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30604" y="3948379"/>
            <a:ext cx="212284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스텁 (명령 발행부 TODO)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72903" y="394837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명령 발행 + 결과 수신 구현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17123" y="394837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봇 오케스트레이터 REST 로 대체 가능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8368" y="3948379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86384" y="431413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Send / Receive Task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30604" y="4314139"/>
            <a:ext cx="212284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동작 (POST·GET)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72903" y="431413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전문 게이트웨이 목(mock) 서버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17123" y="431413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PUT/PATCH 필요 시 확장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58368" y="4314139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658368" y="4679899"/>
            <a:ext cx="10874959" cy="365760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6384" y="467989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DMN 비즈니스 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30604" y="4679899"/>
            <a:ext cx="212284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동작 (Camunda DMN)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72903" y="467989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룰 파일 작성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17123" y="467989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JSON 결정표 · DMN XML 모두 지원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58368" y="4679899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86384" y="504565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외부 전문 수신 (상관키 → 재개)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30604" y="5045659"/>
            <a:ext cx="212284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엔드포인트 구현 필요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72903" y="504565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필수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17123" y="5045659"/>
            <a:ext cx="26247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B2A3A"/>
                </a:solidFill>
                <a:latin typeface="Pretendard"/>
              </a:rPr>
              <a:t>이벤트·메시지 시연의 전제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58368" y="5045659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58368" y="5411419"/>
            <a:ext cx="10874959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658368" y="5623560"/>
            <a:ext cx="10874959" cy="676656"/>
          </a:xfrm>
          <a:prstGeom prst="roundRect">
            <a:avLst>
              <a:gd name="adj" fmla="val 5000"/>
            </a:avLst>
          </a:prstGeom>
          <a:solidFill>
            <a:srgbClr val="EFFAF8"/>
          </a:solidFill>
          <a:ln w="13970">
            <a:solidFill>
              <a:srgbClr val="BF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87552" y="5715000"/>
            <a:ext cx="1021659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250" b="1">
                <a:solidFill>
                  <a:srgbClr val="0A2A53"/>
                </a:solidFill>
                <a:latin typeface="Pretendard"/>
              </a:rPr>
              <a:t>«최소 10분 데모(DMN + SQL Task + 조건식)» 는 선행 개발 없이 오늘 상태로 시연 가능합니다.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250" b="1">
                <a:solidFill>
                  <a:srgbClr val="0A2A53"/>
                </a:solidFill>
                <a:latin typeface="Pretendard"/>
              </a:rPr>
              <a:t>임팩트가 가장 큰 Compensation 역시 추가 개발 없이 시연됩니다.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899855" y="-1737360"/>
            <a:ext cx="4937760" cy="4937760"/>
          </a:xfrm>
          <a:prstGeom prst="ellipse">
            <a:avLst/>
          </a:prstGeom>
          <a:solidFill>
            <a:srgbClr val="103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80015" y="3108960"/>
            <a:ext cx="3840480" cy="3840480"/>
          </a:xfrm>
          <a:prstGeom prst="ellipse">
            <a:avLst/>
          </a:prstGeom>
          <a:solidFill>
            <a:srgbClr val="0D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57200"/>
            <a:ext cx="310164" cy="29260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72" b="1">
                <a:solidFill>
                  <a:srgbClr val="0060AE"/>
                </a:solidFill>
                <a:latin typeface="Pretendard"/>
              </a:rPr>
              <a:t>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201" y="48646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12" b="1">
                <a:solidFill>
                  <a:srgbClr val="FFFFFF"/>
                </a:solidFill>
                <a:latin typeface="Pretendard"/>
              </a:rPr>
              <a:t>수협은행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0A0D2"/>
                </a:solidFill>
                <a:latin typeface="Pretendard"/>
              </a:rPr>
              <a:t>PART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86000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</a:rPr>
              <a:t>종합 · 기대효과 · 로드맵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3310128"/>
            <a:ext cx="1463040" cy="0"/>
          </a:xfrm>
          <a:prstGeom prst="line">
            <a:avLst/>
          </a:prstGeom>
          <a:ln w="38100">
            <a:solidFill>
              <a:srgbClr val="00A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3493008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B9D3E9"/>
                </a:solidFill>
                <a:latin typeface="Pretendard"/>
              </a:rPr>
              <a:t>기능 이름이 아니라, 수협의 일이 어떻게 달라지는가로 정리합니다.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238244"/>
            <a:ext cx="82296" cy="82296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4223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5E6F4"/>
                </a:solidFill>
                <a:latin typeface="Pretendard"/>
              </a:rPr>
              <a:t>여섯 가지 효과 — 현업 · 관리 · IT 관점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" y="4604004"/>
            <a:ext cx="82296" cy="82296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0799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5E6F4"/>
                </a:solidFill>
                <a:latin typeface="Pretendard"/>
              </a:rPr>
              <a:t>금융권에서 특히 의미가 큰 세 가지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" y="4969764"/>
            <a:ext cx="82296" cy="82296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7375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5E6F4"/>
                </a:solidFill>
                <a:latin typeface="Pretendard"/>
              </a:rPr>
              <a:t>무엇을 측정해 성과를 확인할 것인가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" y="5335524"/>
            <a:ext cx="82296" cy="82296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3951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5E6F4"/>
                </a:solidFill>
                <a:latin typeface="Pretendard"/>
              </a:rPr>
              <a:t>3단계 확산 로드맵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" y="5701284"/>
            <a:ext cx="82296" cy="82296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0527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5E6F4"/>
                </a:solidFill>
                <a:latin typeface="Pretendard"/>
              </a:rPr>
              <a:t>왜 uEngine 인가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C81A6"/>
                </a:solidFill>
                <a:latin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1255654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60AE"/>
                </a:solidFill>
                <a:latin typeface="Pretendard"/>
              </a:rPr>
              <a:t>PART 4 · 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BPM 을 도입하면 결국 이 여섯 가지가 달라집니다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앞서 보신 8개 시나리오를 «기능» 이 아니라 «효과» 로 다시 묶은 것입니다.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19656"/>
            <a:ext cx="347868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819656"/>
            <a:ext cx="3478682" cy="68580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39112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D5DFE8"/>
                </a:solidFill>
                <a:latin typeface="Pretendar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1448"/>
            <a:ext cx="29666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A2A53"/>
                </a:solidFill>
                <a:latin typeface="Pretendard"/>
              </a:rPr>
              <a:t>일이 사람을 찾아온다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07208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메뉴를 탐색하는 화면에서 할 일이 배정되는 화면으로. 누락은 시스템이 막고, 기한은 시스템이 챙깁니다.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3593592"/>
            <a:ext cx="2966618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3648456"/>
            <a:ext cx="29666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37B21"/>
                </a:solidFill>
                <a:latin typeface="Pretendard"/>
              </a:rPr>
              <a:t>시나리오 3 · 워크리스트 0건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6506" y="1819656"/>
            <a:ext cx="347868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356506" y="1819656"/>
            <a:ext cx="3478682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2538" y="2039112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D5DFE8"/>
                </a:solidFill>
                <a:latin typeface="Pretendar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2538" y="2441448"/>
            <a:ext cx="29666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A2A53"/>
                </a:solidFill>
                <a:latin typeface="Pretendard"/>
              </a:rPr>
              <a:t>그린 대로 실행된다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2538" y="2807208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도면이 곧 실행입니다. 순서·담당·기한·규칙이 강제되고, 준수율을 숫자로 볼 수 있습니다.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12538" y="3593592"/>
            <a:ext cx="2966618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12538" y="3648456"/>
            <a:ext cx="29666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0060AE"/>
                </a:solidFill>
                <a:latin typeface="Pretendard"/>
              </a:rPr>
              <a:t>시나리오 2 · 3 · 준수율 측정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54644" y="1819656"/>
            <a:ext cx="347868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54644" y="1819656"/>
            <a:ext cx="3478682" cy="6858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0676" y="2039112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D5DFE8"/>
                </a:solidFill>
                <a:latin typeface="Pretendar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0676" y="2441448"/>
            <a:ext cx="29666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A2A53"/>
                </a:solidFill>
                <a:latin typeface="Pretendard"/>
              </a:rPr>
              <a:t>바꾸면 즉시 반영된다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0676" y="2807208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규칙은 표만 고치면 무중단 적용, 흐름은 도면을 고쳐 당일 배포. 전 지점에 동시에 적용됩니다.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10676" y="3593592"/>
            <a:ext cx="296661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10676" y="3648456"/>
            <a:ext cx="29666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00B3A4"/>
                </a:solidFill>
                <a:latin typeface="Pretendard"/>
              </a:rPr>
              <a:t>시나리오 7 · DSR 40 → 30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032504"/>
            <a:ext cx="347868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58368" y="4032504"/>
            <a:ext cx="3478682" cy="68580"/>
          </a:xfrm>
          <a:prstGeom prst="rect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25196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D5DFE8"/>
                </a:solidFill>
                <a:latin typeface="Pretendar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654296"/>
            <a:ext cx="29666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A2A53"/>
                </a:solidFill>
                <a:latin typeface="Pretendard"/>
              </a:rPr>
              <a:t>틈새가 자동화된다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020056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외부 사이트 조회는 봇이, DB 작업은 SQL Task 가. 실패하면 사람에게 되돌아오는 길이 도면에 있습니다.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4400" y="5806440"/>
            <a:ext cx="2966618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4400" y="5861304"/>
            <a:ext cx="29666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00A0D2"/>
                </a:solidFill>
                <a:latin typeface="Pretendard"/>
              </a:rPr>
              <a:t>시나리오 4 · 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56506" y="4032504"/>
            <a:ext cx="347868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4356506" y="4032504"/>
            <a:ext cx="3478682" cy="68580"/>
          </a:xfrm>
          <a:prstGeom prst="rect">
            <a:avLst/>
          </a:prstGeom>
          <a:solidFill>
            <a:srgbClr val="E8B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2538" y="425196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D5DFE8"/>
                </a:solidFill>
                <a:latin typeface="Pretendard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2538" y="4654296"/>
            <a:ext cx="29666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A2A53"/>
                </a:solidFill>
                <a:latin typeface="Pretendard"/>
              </a:rPr>
              <a:t>규칙을 지키고 설명한다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2538" y="5020056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판정 기준이 표로 드러나고, 판정 근거와 적중 규칙이 건별로 남습니다. 민원·감독 대응이 가능해집니다.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612538" y="5806440"/>
            <a:ext cx="2966618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612538" y="5861304"/>
            <a:ext cx="29666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E8B42B"/>
                </a:solidFill>
                <a:latin typeface="Pretendard"/>
              </a:rPr>
              <a:t>시나리오 7 · 판정 사유 기록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54644" y="4032504"/>
            <a:ext cx="347868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8054644" y="4032504"/>
            <a:ext cx="3478682" cy="68580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10676" y="425196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D5DFE8"/>
                </a:solidFill>
                <a:latin typeface="Pretendard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0676" y="4654296"/>
            <a:ext cx="29666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A2A53"/>
                </a:solidFill>
                <a:latin typeface="Pretendard"/>
              </a:rPr>
              <a:t>되돌릴 수 있다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0676" y="5020056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부결·오류 시 완료된 것만 역순으로 자동 취소. 유령 보증서·미해지 담보가 남지 않습니다.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310676" y="5806440"/>
            <a:ext cx="296661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310676" y="5861304"/>
            <a:ext cx="29666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0A2A53"/>
                </a:solidFill>
                <a:latin typeface="Pretendard"/>
              </a:rPr>
              <a:t>시나리오 1 · 자동 보상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708477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60AE"/>
                </a:solidFill>
                <a:latin typeface="Pretendard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특히 «은행» 이기 때문에 의미가 큰 세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제조·유통과 달리, 금융은 규제·정합성·설명책임이 업무의 본질입니다.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37944"/>
            <a:ext cx="3466490" cy="3950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837944"/>
            <a:ext cx="3466490" cy="68580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57400"/>
            <a:ext cx="295442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0A2A53"/>
                </a:solidFill>
                <a:latin typeface="Pretendard"/>
              </a:rPr>
              <a:t>규제 대응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59736"/>
            <a:ext cx="295442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감독 대응이 «주장» 에서 «증거» 로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2930652"/>
            <a:ext cx="68580" cy="68580"/>
          </a:xfrm>
          <a:prstGeom prst="ellipse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2834640"/>
            <a:ext cx="273497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처리 순서·담당·시각이 건별로 자동 기록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3479292"/>
            <a:ext cx="68580" cy="68580"/>
          </a:xfrm>
          <a:prstGeom prst="ellipse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383280"/>
            <a:ext cx="273497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결재권한 기준을 시스템이 강제 — 초과 승인 원천 차단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27932"/>
            <a:ext cx="68580" cy="68580"/>
          </a:xfrm>
          <a:prstGeom prst="ellipse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3931920"/>
            <a:ext cx="273497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규칙 변경 이력이 버전으로 남아 «언제부터 이 기준» 인지 증명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" y="4576572"/>
            <a:ext cx="68580" cy="68580"/>
          </a:xfrm>
          <a:prstGeom prst="ellipse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480559"/>
            <a:ext cx="273497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자동판정의 근거(사유·적중 규칙)를 제시 가능 — 설명 가능성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5148072"/>
            <a:ext cx="2954426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5230368"/>
            <a:ext cx="295442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>
                <a:solidFill>
                  <a:srgbClr val="0A2A53"/>
                </a:solidFill>
                <a:latin typeface="Pretendard"/>
              </a:rPr>
              <a:t>수협 적용 지점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>
                <a:solidFill>
                  <a:srgbClr val="0A2A53"/>
                </a:solidFill>
                <a:latin typeface="Pretendard"/>
              </a:rPr>
              <a:t>여신 결재권한 · DSR 한도 · 서류 충족 기준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2602" y="1837944"/>
            <a:ext cx="3466490" cy="3950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362602" y="1837944"/>
            <a:ext cx="3466490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8634" y="2057400"/>
            <a:ext cx="295442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0A2A53"/>
                </a:solidFill>
                <a:latin typeface="Pretendard"/>
              </a:rPr>
              <a:t>정합성 · 사고 예방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8634" y="2459736"/>
            <a:ext cx="295442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0060AE"/>
                </a:solidFill>
                <a:latin typeface="Pretendard"/>
              </a:rPr>
              <a:t>«만들다 만 상태» 가 남지 않는다</a:t>
            </a:r>
          </a:p>
        </p:txBody>
      </p:sp>
      <p:sp>
        <p:nvSpPr>
          <p:cNvPr id="28" name="Oval 27"/>
          <p:cNvSpPr/>
          <p:nvPr/>
        </p:nvSpPr>
        <p:spPr>
          <a:xfrm>
            <a:off x="4636922" y="2930652"/>
            <a:ext cx="68580" cy="6858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19802" y="2834640"/>
            <a:ext cx="273497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부결 시 예정등록·보증서·담보연결을 역순 자동 취소</a:t>
            </a:r>
          </a:p>
        </p:txBody>
      </p:sp>
      <p:sp>
        <p:nvSpPr>
          <p:cNvPr id="30" name="Oval 29"/>
          <p:cNvSpPr/>
          <p:nvPr/>
        </p:nvSpPr>
        <p:spPr>
          <a:xfrm>
            <a:off x="4636922" y="3479292"/>
            <a:ext cx="68580" cy="6858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19802" y="3383280"/>
            <a:ext cx="273497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SQL Task 가 프로세스 트랜잭션에 참여 — 실패 시 함께 롤백</a:t>
            </a:r>
          </a:p>
        </p:txBody>
      </p:sp>
      <p:sp>
        <p:nvSpPr>
          <p:cNvPr id="32" name="Oval 31"/>
          <p:cNvSpPr/>
          <p:nvPr/>
        </p:nvSpPr>
        <p:spPr>
          <a:xfrm>
            <a:off x="4636922" y="4027932"/>
            <a:ext cx="68580" cy="6858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19802" y="3931920"/>
            <a:ext cx="273497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이메일·통보는 커밋 시점에 발송 — 롤백되면 나가지 않음</a:t>
            </a:r>
          </a:p>
        </p:txBody>
      </p:sp>
      <p:sp>
        <p:nvSpPr>
          <p:cNvPr id="34" name="Oval 33"/>
          <p:cNvSpPr/>
          <p:nvPr/>
        </p:nvSpPr>
        <p:spPr>
          <a:xfrm>
            <a:off x="4636922" y="4576572"/>
            <a:ext cx="68580" cy="6858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9802" y="4480559"/>
            <a:ext cx="273497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중복 전문·중복 콜백에 대한 멱등 처리 지점이 명시됨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618634" y="5148072"/>
            <a:ext cx="2954426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618634" y="5230368"/>
            <a:ext cx="295442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>
                <a:solidFill>
                  <a:srgbClr val="0060AE"/>
                </a:solidFill>
                <a:latin typeface="Pretendard"/>
              </a:rPr>
              <a:t>수협 적용 지점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>
                <a:solidFill>
                  <a:srgbClr val="0060AE"/>
                </a:solidFill>
                <a:latin typeface="Pretendard"/>
              </a:rPr>
              <a:t>여신 등록 연쇄 · 수출환어음 사후 하자 · 대금 회수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66836" y="1837944"/>
            <a:ext cx="3466490" cy="3950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066836" y="1837944"/>
            <a:ext cx="3466490" cy="6858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2868" y="2057400"/>
            <a:ext cx="295442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0A2A53"/>
                </a:solidFill>
                <a:latin typeface="Pretendard"/>
              </a:rPr>
              <a:t>정책 대응 속도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2868" y="2459736"/>
            <a:ext cx="295442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00B3A4"/>
                </a:solidFill>
                <a:latin typeface="Pretendard"/>
              </a:rPr>
              <a:t>정부 정책이 바뀌면 «그 주에» 반영</a:t>
            </a:r>
          </a:p>
        </p:txBody>
      </p:sp>
      <p:sp>
        <p:nvSpPr>
          <p:cNvPr id="42" name="Oval 41"/>
          <p:cNvSpPr/>
          <p:nvPr/>
        </p:nvSpPr>
        <p:spPr>
          <a:xfrm>
            <a:off x="8341156" y="2930652"/>
            <a:ext cx="68580" cy="6858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24036" y="2834640"/>
            <a:ext cx="273497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DSR·LTV·규제지역 기준을 규칙표에서 즉시 수정</a:t>
            </a:r>
          </a:p>
        </p:txBody>
      </p:sp>
      <p:sp>
        <p:nvSpPr>
          <p:cNvPr id="44" name="Oval 43"/>
          <p:cNvSpPr/>
          <p:nvPr/>
        </p:nvSpPr>
        <p:spPr>
          <a:xfrm>
            <a:off x="8341156" y="3479292"/>
            <a:ext cx="68580" cy="6858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24036" y="3383280"/>
            <a:ext cx="273497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금리·우대금리 매트릭스를 현업이 직접 관리</a:t>
            </a:r>
          </a:p>
        </p:txBody>
      </p:sp>
      <p:sp>
        <p:nvSpPr>
          <p:cNvPr id="46" name="Oval 45"/>
          <p:cNvSpPr/>
          <p:nvPr/>
        </p:nvSpPr>
        <p:spPr>
          <a:xfrm>
            <a:off x="8341156" y="4027932"/>
            <a:ext cx="68580" cy="6858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24036" y="3931920"/>
            <a:ext cx="273497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프로세스 재배포·시스템 정지 없음</a:t>
            </a:r>
          </a:p>
        </p:txBody>
      </p:sp>
      <p:sp>
        <p:nvSpPr>
          <p:cNvPr id="48" name="Oval 47"/>
          <p:cNvSpPr/>
          <p:nvPr/>
        </p:nvSpPr>
        <p:spPr>
          <a:xfrm>
            <a:off x="8341156" y="4576572"/>
            <a:ext cx="68580" cy="6858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24036" y="4480559"/>
            <a:ext cx="273497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진행 중인 건은 기존 기준 유지 — 소급 적용 사고 방지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322868" y="5148072"/>
            <a:ext cx="2954427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322868" y="5230368"/>
            <a:ext cx="295442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>
                <a:solidFill>
                  <a:srgbClr val="00B3A4"/>
                </a:solidFill>
                <a:latin typeface="Pretendard"/>
              </a:rPr>
              <a:t>수협 적용 지점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>
                <a:solidFill>
                  <a:srgbClr val="00B3A4"/>
                </a:solidFill>
                <a:latin typeface="Pretendard"/>
              </a:rPr>
              <a:t>DSR 한도 · LTV · 우대금리 · 수수료 감면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5879592"/>
            <a:ext cx="10874959" cy="512064"/>
          </a:xfrm>
          <a:prstGeom prst="roundRect">
            <a:avLst>
              <a:gd name="adj" fmla="val 5000"/>
            </a:avLst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024128" y="5943600"/>
            <a:ext cx="101434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Pretendard"/>
              </a:rPr>
              <a:t>BPM 은 «편의 기능» 이 아니라 은행의 내부통제 인프라입니다.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708477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60AE"/>
                </a:solidFill>
                <a:latin typeface="Pretendard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성과를 «어떻게 측정할 것인가»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숫자를 먼저 약속드리지 않습니다. 지금은 «측정조차 안 되는» 지표들이 측정 가능해집니다 — 목표치는 진단 후 함께 정합니다.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177473" cy="315468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1783080"/>
            <a:ext cx="42138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</a:rPr>
              <a:t>영역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7229" y="1783080"/>
            <a:ext cx="208758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</a:rPr>
              <a:t>지표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4274" y="1783080"/>
            <a:ext cx="1446743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</a:rPr>
              <a:t>현재 측정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473" y="1783080"/>
            <a:ext cx="2343927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</a:rPr>
              <a:t>BPM 도입 후 측정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098548"/>
            <a:ext cx="42138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속도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7229" y="2098548"/>
            <a:ext cx="2087588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건당 리드타임 (접수 → 실행)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4274" y="2098548"/>
            <a:ext cx="144674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불가 — 기록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473" y="2098548"/>
            <a:ext cx="2343927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인스턴스 시작~종료 시각 자동 집계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2098548"/>
            <a:ext cx="7177473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58368" y="2441448"/>
            <a:ext cx="7177473" cy="342900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86384" y="2441448"/>
            <a:ext cx="42138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속도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7229" y="2441448"/>
            <a:ext cx="2087588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단계별 처리시간 · 대기시간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4274" y="2441448"/>
            <a:ext cx="144674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불가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473" y="2441448"/>
            <a:ext cx="2343927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액티비티별 소요/대기 시간 자동 집계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2441448"/>
            <a:ext cx="7177473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6384" y="2784348"/>
            <a:ext cx="42138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품질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7229" y="2784348"/>
            <a:ext cx="2087588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프로세스 준수율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34274" y="2784348"/>
            <a:ext cx="144674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불가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473" y="2784348"/>
            <a:ext cx="2343927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정의 경로 대비 실행 경로 일치율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2784348"/>
            <a:ext cx="7177473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58368" y="3127248"/>
            <a:ext cx="7177473" cy="342900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86384" y="3127248"/>
            <a:ext cx="42138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품질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27229" y="3127248"/>
            <a:ext cx="2087588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기한(SLA) 초과 건수 · 비율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4274" y="3127248"/>
            <a:ext cx="144674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수기 집계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0473" y="3127248"/>
            <a:ext cx="2343927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Timer 발화 이력 · 상신 이력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8368" y="3127248"/>
            <a:ext cx="7177473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86384" y="3470148"/>
            <a:ext cx="42138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품질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27229" y="3470148"/>
            <a:ext cx="2087588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재작업 · 되돌림 건수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4274" y="3470148"/>
            <a:ext cx="144674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불가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473" y="3470148"/>
            <a:ext cx="2343927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보상(Compensated) 실행 이력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8368" y="3470148"/>
            <a:ext cx="7177473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58368" y="3813048"/>
            <a:ext cx="7177473" cy="342900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86384" y="3813048"/>
            <a:ext cx="42138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생산성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27229" y="3813048"/>
            <a:ext cx="2087588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1인당 동시 처리 건수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34274" y="3813048"/>
            <a:ext cx="144674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불가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00473" y="3813048"/>
            <a:ext cx="2343927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워크리스트 배정·완료 건수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8368" y="3813048"/>
            <a:ext cx="7177473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86384" y="4155948"/>
            <a:ext cx="42138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생산성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27229" y="4155948"/>
            <a:ext cx="2087588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수작업 조회 · 재입력 횟수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34274" y="4155948"/>
            <a:ext cx="144674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불가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00473" y="4155948"/>
            <a:ext cx="2343927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RPA / SQL Task 대체 단계 수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58368" y="4155948"/>
            <a:ext cx="7177473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658368" y="4498848"/>
            <a:ext cx="7177473" cy="342900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6384" y="4498848"/>
            <a:ext cx="42138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통제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27229" y="4498848"/>
            <a:ext cx="2087588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결재권한 초과 승인 건수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34274" y="4498848"/>
            <a:ext cx="144674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사후 감사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00473" y="4498848"/>
            <a:ext cx="2343927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DMN 판정 이력 + 권한 강제로 0 지향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58368" y="4498848"/>
            <a:ext cx="7177473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86384" y="4841748"/>
            <a:ext cx="42138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통제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27229" y="4841748"/>
            <a:ext cx="2087588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부결 사유 분포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34274" y="4841748"/>
            <a:ext cx="144674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담당자 메모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00473" y="4841748"/>
            <a:ext cx="2343927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판정 사유(note) · 적중 규칙번호 집계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58368" y="4841748"/>
            <a:ext cx="7177473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658368" y="5184648"/>
            <a:ext cx="7177473" cy="342900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786384" y="5184648"/>
            <a:ext cx="42138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대응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27229" y="5184648"/>
            <a:ext cx="2087588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정책 변경 반영 소요일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34274" y="5184648"/>
            <a:ext cx="144674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수 주 ~ 수 개월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00473" y="5184648"/>
            <a:ext cx="2343927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B2A3A"/>
                </a:solidFill>
                <a:latin typeface="Pretendard"/>
              </a:rPr>
              <a:t>규칙 수정 → 저장 시각으로 측정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58368" y="5184648"/>
            <a:ext cx="7177473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58368" y="5527548"/>
            <a:ext cx="7177473" cy="0"/>
          </a:xfrm>
          <a:prstGeom prst="line">
            <a:avLst/>
          </a:prstGeom>
          <a:ln w="9525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107715" y="17830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0A2A53"/>
                </a:solidFill>
                <a:latin typeface="Pretendard"/>
              </a:rPr>
              <a:t>권장 접근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107715" y="2148840"/>
            <a:ext cx="342561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8308883" y="2404872"/>
            <a:ext cx="274320" cy="27432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92931" y="2276856"/>
            <a:ext cx="26392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기준선(Baseline) 측정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92931" y="2551176"/>
            <a:ext cx="26392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Phase 1 대상 업무를 BPM 에 올리고 3개월간 실측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07715" y="3026664"/>
            <a:ext cx="342561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8308883" y="3282696"/>
            <a:ext cx="274320" cy="274320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92931" y="3154680"/>
            <a:ext cx="26392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목표 합의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92931" y="3429000"/>
            <a:ext cx="26392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실측값을 근거로 리드타임·준수율 목표를 함께 설정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7715" y="3904487"/>
            <a:ext cx="342561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8308883" y="4160520"/>
            <a:ext cx="274320" cy="27432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92931" y="4032503"/>
            <a:ext cx="26392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개선 반복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92931" y="4306824"/>
            <a:ext cx="26392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병목 액티비티를 도면에서 바로 고쳐 재배포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107715" y="4782312"/>
            <a:ext cx="342561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8308883" y="5038344"/>
            <a:ext cx="274320" cy="274320"/>
          </a:xfrm>
          <a:prstGeom prst="ellipse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92931" y="4910327"/>
            <a:ext cx="26392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확산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92931" y="5184648"/>
            <a:ext cx="26392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검증된 개선폭을 근거로 다음 업무군으로 확대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107715" y="5714999"/>
            <a:ext cx="3425612" cy="658368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13970">
            <a:solidFill>
              <a:srgbClr val="EED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8327171" y="5806440"/>
            <a:ext cx="29867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1">
                <a:solidFill>
                  <a:srgbClr val="0A2A53"/>
                </a:solidFill>
                <a:latin typeface="Pretendard"/>
              </a:rPr>
              <a:t>«측정할 수 없는 것은 개선할 수 없다»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1">
                <a:solidFill>
                  <a:srgbClr val="0A2A53"/>
                </a:solidFill>
                <a:latin typeface="Pretendard"/>
              </a:rPr>
              <a:t>BPM 의 첫 번째 산출물은 데이터입니다.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708477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60AE"/>
                </a:solidFill>
                <a:latin typeface="Pretendard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단계적 도입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전사를 한 번에 바꾸지 않습니다. 효과가 확실한 업무부터 올리고, 검증된 패턴을 확산합니다.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3442106" cy="3621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2057400"/>
            <a:ext cx="3442106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837944"/>
            <a:ext cx="1097280" cy="402336"/>
          </a:xfrm>
          <a:prstGeom prst="roundRect">
            <a:avLst>
              <a:gd name="adj" fmla="val 28000"/>
            </a:avLst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retendard"/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6272" y="1892808"/>
            <a:ext cx="17047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A2A53"/>
                </a:solidFill>
                <a:latin typeface="Pretendard"/>
              </a:rPr>
              <a:t>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50008"/>
            <a:ext cx="29300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60AE"/>
                </a:solidFill>
                <a:latin typeface="Pretendard"/>
              </a:rPr>
              <a:t>기간 · 3~4개월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2729484"/>
            <a:ext cx="68580" cy="6858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2633472"/>
            <a:ext cx="271058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단순·정형 업무 1~2종을 먼저 (예: 일반계좌신규, 예금잔액 통보)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3241548"/>
            <a:ext cx="68580" cy="6858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145536"/>
            <a:ext cx="271058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워크리스트 · 폼 · 모니터링 정착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3753612"/>
            <a:ext cx="68580" cy="6858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657600"/>
            <a:ext cx="271058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SQL Task 로 계정계 조회·적재 연동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265676"/>
            <a:ext cx="68580" cy="6858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169663"/>
            <a:ext cx="271058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DMN 으로 판정 규칙 1~2개 외부화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764024"/>
            <a:ext cx="2930042" cy="804672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42415" y="4855464"/>
            <a:ext cx="267401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0A2A53"/>
                </a:solidFill>
                <a:latin typeface="Pretendard"/>
              </a:rPr>
              <a:t>이 단계의 결과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0A2A53"/>
                </a:solidFill>
                <a:latin typeface="Pretendard"/>
              </a:rPr>
              <a:t>현업이 «찾아오는 업무» 를 체감하고 기준선 데이터를 확보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146194" y="3630168"/>
            <a:ext cx="182880" cy="219456"/>
          </a:xfrm>
          <a:prstGeom prst="rightArrow">
            <a:avLst/>
          </a:prstGeom>
          <a:solidFill>
            <a:srgbClr val="C5D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74794" y="2057400"/>
            <a:ext cx="3442106" cy="3621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74794" y="2057400"/>
            <a:ext cx="3442106" cy="68580"/>
          </a:xfrm>
          <a:prstGeom prst="rect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30826" y="1837944"/>
            <a:ext cx="1097280" cy="402336"/>
          </a:xfrm>
          <a:prstGeom prst="roundRect">
            <a:avLst>
              <a:gd name="adj" fmla="val 28000"/>
            </a:avLst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retendard"/>
              </a:rPr>
              <a:t>PHASE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2698" y="1892808"/>
            <a:ext cx="17047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A2A53"/>
                </a:solidFill>
                <a:latin typeface="Pretendard"/>
              </a:rPr>
              <a:t>확대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0826" y="2350008"/>
            <a:ext cx="29300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A0D2"/>
                </a:solidFill>
                <a:latin typeface="Pretendard"/>
              </a:rPr>
              <a:t>기간 · 6~9개월</a:t>
            </a:r>
          </a:p>
        </p:txBody>
      </p:sp>
      <p:sp>
        <p:nvSpPr>
          <p:cNvPr id="31" name="Oval 30"/>
          <p:cNvSpPr/>
          <p:nvPr/>
        </p:nvSpPr>
        <p:spPr>
          <a:xfrm>
            <a:off x="4649114" y="2729484"/>
            <a:ext cx="68580" cy="68580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31994" y="2633472"/>
            <a:ext cx="271058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복합 업무 확대 (수출환어음 매입 · 추심결재, 기업신용카드)</a:t>
            </a:r>
          </a:p>
        </p:txBody>
      </p:sp>
      <p:sp>
        <p:nvSpPr>
          <p:cNvPr id="33" name="Oval 32"/>
          <p:cNvSpPr/>
          <p:nvPr/>
        </p:nvSpPr>
        <p:spPr>
          <a:xfrm>
            <a:off x="4649114" y="3241548"/>
            <a:ext cx="68580" cy="68580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31994" y="3145536"/>
            <a:ext cx="271058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메시지 송·수신으로 전문 연계 자동화</a:t>
            </a:r>
          </a:p>
        </p:txBody>
      </p:sp>
      <p:sp>
        <p:nvSpPr>
          <p:cNvPr id="35" name="Oval 34"/>
          <p:cNvSpPr/>
          <p:nvPr/>
        </p:nvSpPr>
        <p:spPr>
          <a:xfrm>
            <a:off x="4649114" y="3753612"/>
            <a:ext cx="68580" cy="68580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31994" y="3657600"/>
            <a:ext cx="271058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Timer · Escalation 으로 SLA 관리 도입</a:t>
            </a:r>
          </a:p>
        </p:txBody>
      </p:sp>
      <p:sp>
        <p:nvSpPr>
          <p:cNvPr id="37" name="Oval 36"/>
          <p:cNvSpPr/>
          <p:nvPr/>
        </p:nvSpPr>
        <p:spPr>
          <a:xfrm>
            <a:off x="4649114" y="4265676"/>
            <a:ext cx="68580" cy="68580"/>
          </a:xfrm>
          <a:prstGeom prst="ellipse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31994" y="4169663"/>
            <a:ext cx="271058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Multi-Instance 로 위원회·다건 처리 표준화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30826" y="4764024"/>
            <a:ext cx="2930042" cy="804672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758842" y="4855464"/>
            <a:ext cx="267401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0A2A53"/>
                </a:solidFill>
                <a:latin typeface="Pretendard"/>
              </a:rPr>
              <a:t>이 단계의 결과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0A2A53"/>
                </a:solidFill>
                <a:latin typeface="Pretendard"/>
              </a:rPr>
              <a:t>프로세스 준수율·리드타임이 지표로 관리되기 시작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7862620" y="3630168"/>
            <a:ext cx="182880" cy="219456"/>
          </a:xfrm>
          <a:prstGeom prst="rightArrow">
            <a:avLst/>
          </a:prstGeom>
          <a:solidFill>
            <a:srgbClr val="C5D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091220" y="2057400"/>
            <a:ext cx="3442106" cy="3621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091220" y="2057400"/>
            <a:ext cx="3442106" cy="6858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347252" y="1837944"/>
            <a:ext cx="1097280" cy="402336"/>
          </a:xfrm>
          <a:prstGeom prst="roundRect">
            <a:avLst>
              <a:gd name="adj" fmla="val 28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retendard"/>
              </a:rPr>
              <a:t>PHASE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9124" y="1892808"/>
            <a:ext cx="17047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A2A53"/>
                </a:solidFill>
                <a:latin typeface="Pretendard"/>
              </a:rPr>
              <a:t>고도화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7252" y="2350008"/>
            <a:ext cx="29300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B3A4"/>
                </a:solidFill>
                <a:latin typeface="Pretendard"/>
              </a:rPr>
              <a:t>기간 · 9개월~</a:t>
            </a:r>
          </a:p>
        </p:txBody>
      </p:sp>
      <p:sp>
        <p:nvSpPr>
          <p:cNvPr id="47" name="Oval 46"/>
          <p:cNvSpPr/>
          <p:nvPr/>
        </p:nvSpPr>
        <p:spPr>
          <a:xfrm>
            <a:off x="8365540" y="2729484"/>
            <a:ext cx="68580" cy="6858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48420" y="2633472"/>
            <a:ext cx="271058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여신신규(주택담보대출) 등 최대 규모 업무 전환</a:t>
            </a:r>
          </a:p>
        </p:txBody>
      </p:sp>
      <p:sp>
        <p:nvSpPr>
          <p:cNvPr id="49" name="Oval 48"/>
          <p:cNvSpPr/>
          <p:nvPr/>
        </p:nvSpPr>
        <p:spPr>
          <a:xfrm>
            <a:off x="8365540" y="3241548"/>
            <a:ext cx="68580" cy="6858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48420" y="3145536"/>
            <a:ext cx="271058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Compensation 으로 취소·정정 자동화</a:t>
            </a:r>
          </a:p>
        </p:txBody>
      </p:sp>
      <p:sp>
        <p:nvSpPr>
          <p:cNvPr id="51" name="Oval 50"/>
          <p:cNvSpPr/>
          <p:nvPr/>
        </p:nvSpPr>
        <p:spPr>
          <a:xfrm>
            <a:off x="8365540" y="3753612"/>
            <a:ext cx="68580" cy="6858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48420" y="3657600"/>
            <a:ext cx="271058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RPA 연계로 외부 조회 전면 자동화</a:t>
            </a:r>
          </a:p>
        </p:txBody>
      </p:sp>
      <p:sp>
        <p:nvSpPr>
          <p:cNvPr id="53" name="Oval 52"/>
          <p:cNvSpPr/>
          <p:nvPr/>
        </p:nvSpPr>
        <p:spPr>
          <a:xfrm>
            <a:off x="8365540" y="4265676"/>
            <a:ext cx="68580" cy="6858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48420" y="4169663"/>
            <a:ext cx="271058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5A6B7D"/>
                </a:solidFill>
                <a:latin typeface="Pretendard"/>
              </a:rPr>
              <a:t>프로세스 간 연결 · 전사 프로세스 지도 구축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47252" y="4764024"/>
            <a:ext cx="2930042" cy="804672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475268" y="4855464"/>
            <a:ext cx="267401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0A2A53"/>
                </a:solidFill>
                <a:latin typeface="Pretendard"/>
              </a:rPr>
              <a:t>이 단계의 결과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0A2A53"/>
                </a:solidFill>
                <a:latin typeface="Pretendard"/>
              </a:rPr>
              <a:t>규칙·흐름 변경을 현업이 주도하는 운영 체계로 전환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368" y="5806440"/>
            <a:ext cx="10874959" cy="530352"/>
          </a:xfrm>
          <a:prstGeom prst="roundRect">
            <a:avLst>
              <a:gd name="adj" fmla="val 5000"/>
            </a:avLst>
          </a:prstGeom>
          <a:solidFill>
            <a:srgbClr val="EFFAF8"/>
          </a:solidFill>
          <a:ln w="13970">
            <a:solidFill>
              <a:srgbClr val="BF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24128" y="5870448"/>
            <a:ext cx="101434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0A2A53"/>
                </a:solidFill>
                <a:latin typeface="Pretendard"/>
              </a:rPr>
              <a:t>Phase 1 에서 만든 «변수 · 조건식 · 역할 · 룰» 은 Phase 2·3 에서 그대로 재사용됩니다 — 다시 만들지 않습니다.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708477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60AE"/>
                </a:solidFill>
                <a:latin typeface="Pretendard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왜 uEngine BPM 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표준을 지키면서, 실제 은행 업무에서 반드시 부딪히는 «예외» 를 다룰 수 있는가가 관건입니다.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56232"/>
            <a:ext cx="3478682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856232"/>
            <a:ext cx="50292" cy="1755648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57400"/>
            <a:ext cx="296661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A2A53"/>
                </a:solidFill>
                <a:latin typeface="Pretendard"/>
              </a:rPr>
              <a:t>실행 중 인원 증감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59736"/>
            <a:ext cx="296661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Pretendard"/>
              </a:rPr>
              <a:t>심의 도중 위원이 추가되면 서브 인스턴스가 1개 더 생깁니다. 대부분의 엔진은 분기 시점에 개수가 고정됩니다.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3264408"/>
            <a:ext cx="2966618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3337560"/>
            <a:ext cx="29666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0060AE"/>
                </a:solidFill>
                <a:latin typeface="Pretendard"/>
              </a:rPr>
              <a:t>refreshMultipleInstance()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6506" y="1856232"/>
            <a:ext cx="3478682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56506" y="1856232"/>
            <a:ext cx="50292" cy="1755648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2538" y="2057400"/>
            <a:ext cx="296661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A2A53"/>
                </a:solidFill>
                <a:latin typeface="Pretendard"/>
              </a:rPr>
              <a:t>지점 지정 되돌림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2538" y="2459736"/>
            <a:ext cx="296661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Pretendard"/>
              </a:rPr>
              <a:t>«어디까지 되돌릴지» 를 지목하면 역순 보상 + 흐름 리셋 + 그 지점부터 재개까지 한 번에 처리합니다.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12538" y="3264408"/>
            <a:ext cx="2966618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12538" y="3337560"/>
            <a:ext cx="29666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F37B21"/>
                </a:solidFill>
                <a:latin typeface="Pretendard"/>
              </a:rPr>
              <a:t>backToHere() · compensateToThis()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4644" y="1856232"/>
            <a:ext cx="3478682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054644" y="1856232"/>
            <a:ext cx="50292" cy="17556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0676" y="2057400"/>
            <a:ext cx="296661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A2A53"/>
                </a:solidFill>
                <a:latin typeface="Pretendard"/>
              </a:rPr>
              <a:t>SQL 없는 DB 연동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0676" y="2459736"/>
            <a:ext cx="296661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Pretendard"/>
              </a:rPr>
              <a:t>현업이 컬럼 매핑만으로 SELECT/INSERT/UPDATE/DELETE 를 생성합니다. 폼 매핑과 동일한 화면을 씁니다.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10676" y="3264408"/>
            <a:ext cx="296661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10676" y="3337560"/>
            <a:ext cx="29666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00B3A4"/>
                </a:solidFill>
                <a:latin typeface="Pretendard"/>
              </a:rPr>
              <a:t>DatabaseMappingStrategy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831336"/>
            <a:ext cx="3478682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58368" y="3831336"/>
            <a:ext cx="50292" cy="1755648"/>
          </a:xfrm>
          <a:prstGeom prst="rect">
            <a:avLst/>
          </a:prstGeom>
          <a:solidFill>
            <a:srgbClr val="E8B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032504"/>
            <a:ext cx="296661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A2A53"/>
                </a:solidFill>
                <a:latin typeface="Pretendard"/>
              </a:rPr>
              <a:t>규칙 단독 배포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434840"/>
            <a:ext cx="296661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Pretendard"/>
              </a:rPr>
              <a:t>프로세스 정의를 건드리지 않고 규칙만 수정·배포합니다. JSON 결정표와 표준 DMN XML 을 모두 지원합니다.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5239512"/>
            <a:ext cx="2966618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400" y="5312664"/>
            <a:ext cx="29666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E8B42B"/>
                </a:solidFill>
                <a:latin typeface="Pretendard"/>
              </a:rPr>
              <a:t>BusinessRuleTask + Camunda DMN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56506" y="3831336"/>
            <a:ext cx="3478682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356506" y="3831336"/>
            <a:ext cx="50292" cy="1755648"/>
          </a:xfrm>
          <a:prstGeom prst="rect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2538" y="4032504"/>
            <a:ext cx="296661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A2A53"/>
                </a:solidFill>
                <a:latin typeface="Pretendard"/>
              </a:rPr>
              <a:t>트랜잭션 일관성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2538" y="4434840"/>
            <a:ext cx="296661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Pretendard"/>
              </a:rPr>
              <a:t>SQL Task 가 프로세스 트랜잭션에 참여하고, 이메일은 커밋 시점에 발송됩니다. 롤백되면 아무것도 남지 않습니다.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612538" y="5239512"/>
            <a:ext cx="2966618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612538" y="5312664"/>
            <a:ext cx="29666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00A0D2"/>
                </a:solidFill>
                <a:latin typeface="Pretendard"/>
              </a:rPr>
              <a:t>DataSourceConnectionFactory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54644" y="3831336"/>
            <a:ext cx="3478682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8054644" y="3831336"/>
            <a:ext cx="50292" cy="1755648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10676" y="4032504"/>
            <a:ext cx="296661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A2A53"/>
                </a:solidFill>
                <a:latin typeface="Pretendard"/>
              </a:rPr>
              <a:t>표준 BPMN 2.0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0676" y="4434840"/>
            <a:ext cx="296661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Pretendard"/>
              </a:rPr>
              <a:t>표준 도면을 그대로 읽고 실행합니다. 현업이 그린 As-Is 도면이 To-Be 의 출발점이 됩니다.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310676" y="5239512"/>
            <a:ext cx="296661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310676" y="5312664"/>
            <a:ext cx="29666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0A2A53"/>
                </a:solidFill>
                <a:latin typeface="Pretendard"/>
              </a:rPr>
              <a:t>BPMN 2.0 · DMN 1.3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806440"/>
            <a:ext cx="10874959" cy="548640"/>
          </a:xfrm>
          <a:prstGeom prst="roundRect">
            <a:avLst>
              <a:gd name="adj" fmla="val 5000"/>
            </a:avLst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024128" y="5888736"/>
            <a:ext cx="101434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>제출해 주신 7개 도면을 그대로 읽어 분석했습니다 — 새로 그리는 것이 아니라, 있는 도면을 «실행 가능하게» 만드는 일입니다.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310896"/>
            <a:ext cx="549554" cy="256032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60AE"/>
                </a:solidFill>
                <a:latin typeface="Pretendard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32631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A2A53"/>
                </a:solidFill>
                <a:latin typeface="Pretendard"/>
              </a:rPr>
              <a:t>오늘 말씀드린 것을 한 문장으로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>
                <a:solidFill>
                  <a:srgbClr val="5A6B7D"/>
                </a:solidFill>
                <a:latin typeface="Pretendard"/>
              </a:rPr>
              <a:t>BPM 은 새 시스템이 아니라, 이미 있는 시스템들을 «일의 순서» 로 꿰는 일입니다.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63624"/>
            <a:ext cx="10874959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373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8B9AA8"/>
                </a:solidFill>
                <a:latin typeface="Pretendard"/>
              </a:rPr>
              <a:t>uEngine BPM  ·  수협은행 도입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B9AA8"/>
                </a:solidFill>
                <a:latin typeface="Pretendard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74520"/>
            <a:ext cx="10874959" cy="1133856"/>
          </a:xfrm>
          <a:prstGeom prst="roundRect">
            <a:avLst>
              <a:gd name="adj" fmla="val 5000"/>
            </a:avLst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15568" y="2057400"/>
            <a:ext cx="9960559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Pretendard"/>
              </a:rPr>
              <a:t>“계정계는 무슨 일이 있었는지 기록합니다.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Pretendard"/>
              </a:rPr>
              <a:t>BPM 은 무슨 일을 해야 하는지 실행합니다.”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227832"/>
            <a:ext cx="1660093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58368" y="3227832"/>
            <a:ext cx="1660093" cy="68580"/>
          </a:xfrm>
          <a:prstGeom prst="rect">
            <a:avLst/>
          </a:prstGeom>
          <a:solidFill>
            <a:srgbClr val="F3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502152"/>
            <a:ext cx="136748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찾아오는 업무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922776"/>
            <a:ext cx="136748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메뉴 탐색 → 워크리스트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01341" y="3227832"/>
            <a:ext cx="1660093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2501341" y="3227832"/>
            <a:ext cx="1660093" cy="68580"/>
          </a:xfrm>
          <a:prstGeom prst="rect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47645" y="3502152"/>
            <a:ext cx="136748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실행되는 도면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645" y="3922776"/>
            <a:ext cx="136748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그림 → 준수율 데이터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4314" y="3227832"/>
            <a:ext cx="1660093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344314" y="3227832"/>
            <a:ext cx="1660093" cy="6858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0618" y="3502152"/>
            <a:ext cx="136748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즉시 반영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0618" y="3922776"/>
            <a:ext cx="136748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재배포 수 주 → 무중단 즉시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7287" y="3227832"/>
            <a:ext cx="1660093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187287" y="3227832"/>
            <a:ext cx="1660093" cy="68580"/>
          </a:xfrm>
          <a:prstGeom prst="rect">
            <a:avLst/>
          </a:prstGeom>
          <a:solidFill>
            <a:srgbClr val="00A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3591" y="3502152"/>
            <a:ext cx="136748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메워지는 틈새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3591" y="3922776"/>
            <a:ext cx="136748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수기 조회 → RPA ·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0260" y="3227832"/>
            <a:ext cx="1660093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030260" y="3227832"/>
            <a:ext cx="1660093" cy="68580"/>
          </a:xfrm>
          <a:prstGeom prst="rect">
            <a:avLst/>
          </a:prstGeom>
          <a:solidFill>
            <a:srgbClr val="E8B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6564" y="3502152"/>
            <a:ext cx="136748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설명되는 판단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6564" y="3922776"/>
            <a:ext cx="136748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담당자 메모 → 판정 근거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3234" y="3227832"/>
            <a:ext cx="1660093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9873234" y="3227832"/>
            <a:ext cx="1660093" cy="68580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9538" y="3502152"/>
            <a:ext cx="136748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되돌릴 수 있음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9538" y="3922776"/>
            <a:ext cx="136748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전화·메모 → 자동 역순 보상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67258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0A2A53"/>
                </a:solidFill>
                <a:latin typeface="Pretendard"/>
              </a:rPr>
              <a:t>다음 단계 제안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001768"/>
            <a:ext cx="2567863" cy="1005840"/>
          </a:xfrm>
          <a:prstGeom prst="roundRect">
            <a:avLst>
              <a:gd name="adj" fmla="val 6000"/>
            </a:avLst>
          </a:prstGeom>
          <a:solidFill>
            <a:srgbClr val="F2F7FB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859536" y="5129784"/>
            <a:ext cx="274320" cy="27432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5295" y="5129784"/>
            <a:ext cx="1799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데모 일정 확정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5477256"/>
            <a:ext cx="21655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30분 통합 데모 · 축소안 중 선택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27399" y="5001768"/>
            <a:ext cx="2567863" cy="1005840"/>
          </a:xfrm>
          <a:prstGeom prst="roundRect">
            <a:avLst>
              <a:gd name="adj" fmla="val 6000"/>
            </a:avLst>
          </a:prstGeom>
          <a:solidFill>
            <a:srgbClr val="F2F7FB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3628567" y="5129784"/>
            <a:ext cx="274320" cy="27432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94327" y="5129784"/>
            <a:ext cx="1799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Phase 1 대상 업무 선정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28567" y="5477256"/>
            <a:ext cx="21655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일반계좌신규 · 예금잔액 통보 등 정형 업무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96431" y="5001768"/>
            <a:ext cx="2567863" cy="1005840"/>
          </a:xfrm>
          <a:prstGeom prst="roundRect">
            <a:avLst>
              <a:gd name="adj" fmla="val 6000"/>
            </a:avLst>
          </a:prstGeom>
          <a:solidFill>
            <a:srgbClr val="F2F7FB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6397599" y="5129784"/>
            <a:ext cx="274320" cy="27432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3359" y="5129784"/>
            <a:ext cx="1799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기준선 측정 항목 합의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97599" y="5477256"/>
            <a:ext cx="21655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리드타임 · 준수율 · SLA 초과 지표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65463" y="5001768"/>
            <a:ext cx="2567863" cy="1005840"/>
          </a:xfrm>
          <a:prstGeom prst="roundRect">
            <a:avLst>
              <a:gd name="adj" fmla="val 6000"/>
            </a:avLst>
          </a:prstGeom>
          <a:solidFill>
            <a:srgbClr val="F2F7FB"/>
          </a:solidFill>
          <a:ln w="1397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9166631" y="5129784"/>
            <a:ext cx="274320" cy="274320"/>
          </a:xfrm>
          <a:prstGeom prst="ellipse">
            <a:avLst/>
          </a:prstGeom>
          <a:solidFill>
            <a:srgbClr val="006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32391" y="5129784"/>
            <a:ext cx="1799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A2A53"/>
                </a:solidFill>
                <a:latin typeface="Pretendard"/>
              </a:rPr>
              <a:t>PoC 범위·기간 확정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66631" y="5477256"/>
            <a:ext cx="21655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A6B7D"/>
                </a:solidFill>
                <a:latin typeface="Pretendard"/>
              </a:rPr>
              <a:t>3~4개월 · 산출물 정의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2194560"/>
            <a:ext cx="6400800" cy="6400800"/>
          </a:xfrm>
          <a:prstGeom prst="ellipse">
            <a:avLst/>
          </a:prstGeom>
          <a:solidFill>
            <a:srgbClr val="10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2926080"/>
            <a:ext cx="4572000" cy="4572000"/>
          </a:xfrm>
          <a:prstGeom prst="ellipse">
            <a:avLst/>
          </a:prstGeom>
          <a:solidFill>
            <a:srgbClr val="0D33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566928"/>
            <a:ext cx="348935" cy="32918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55" b="1">
                <a:solidFill>
                  <a:srgbClr val="0060AE"/>
                </a:solidFill>
                <a:latin typeface="Pretendard"/>
              </a:rPr>
              <a:t>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556" y="599846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76" b="1">
                <a:solidFill>
                  <a:srgbClr val="FFFFFF"/>
                </a:solidFill>
                <a:latin typeface="Pretendard"/>
              </a:rPr>
              <a:t>수협은행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Pretendard"/>
              </a:rPr>
              <a:t>감사합니다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3246120"/>
            <a:ext cx="1828800" cy="0"/>
          </a:xfrm>
          <a:prstGeom prst="line">
            <a:avLst/>
          </a:prstGeom>
          <a:ln w="44450">
            <a:solidFill>
              <a:srgbClr val="00A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3493008"/>
            <a:ext cx="7680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500" b="0">
                <a:solidFill>
                  <a:srgbClr val="C3DAEC"/>
                </a:solidFill>
                <a:latin typeface="Pretendard"/>
              </a:rPr>
              <a:t>질문과 논의를 환영합니다.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500" b="0">
                <a:solidFill>
                  <a:srgbClr val="C3DAEC"/>
                </a:solidFill>
                <a:latin typeface="Pretendard"/>
              </a:rPr>
              <a:t>수협 업무 도면을 더 주시면 같은 방식으로 분석해 드리겠습니다.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846320"/>
            <a:ext cx="6035040" cy="932688"/>
          </a:xfrm>
          <a:prstGeom prst="roundRect">
            <a:avLst>
              <a:gd name="adj" fmla="val 6000"/>
            </a:avLst>
          </a:prstGeom>
          <a:solidFill>
            <a:srgbClr val="123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87552" y="4992624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00" b="0">
                <a:solidFill>
                  <a:srgbClr val="A9C7E0"/>
                </a:solidFill>
                <a:latin typeface="Pretendard"/>
              </a:rPr>
              <a:t>uEngine BPM  ·  유엔진솔루션즈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00" b="0">
                <a:solidFill>
                  <a:srgbClr val="A9C7E0"/>
                </a:solidFill>
                <a:latin typeface="Pretendard"/>
              </a:rPr>
              <a:t>BPMN 2.0 / DMN 표준 기반 업무 프로세스 관리 플랫폼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604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C81A6"/>
                </a:solidFill>
                <a:latin typeface="Pretendard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